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57FB98-42AB-4125-A31A-76CE1BF50F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FF4C6B-158C-4362-AE54-22B4DC6609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6362A-DFCE-4F42-92A0-F114DB4692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BE553C-5930-4FBA-9BC5-F3A845E0CC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395DC4-3A04-41E6-AA2B-227D9417FC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450532-4502-4A6B-A814-3AEE2EE41A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ACBFA8-BABB-45F7-AE12-3FE6D52F44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B2380A-05D7-4BAA-9C85-BD48AAF01D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0A9679-C7BB-458D-B161-65FCA22D4D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29CC22-C81B-4490-AC16-DAB9510C14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AC4DA6-3D5C-4E48-B16B-CCF2A34DDC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F3FA4-B004-49B2-BF02-762B73D4E1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EEF021-2F40-4AE8-8316-CAB5EAB4EC9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ROKEY Bootcamp · 2026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914400" y="1097280"/>
            <a:ext cx="1035972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4600" spc="-1" strike="noStrike">
                <a:solidFill>
                  <a:srgbClr val="ffffff"/>
                </a:solidFill>
                <a:latin typeface="Calibri"/>
              </a:rPr>
              <a:t>이미지 기반</a:t>
            </a:r>
            <a:endParaRPr b="0" lang="en-US" sz="46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14400" y="1828800"/>
            <a:ext cx="1035972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4600" spc="-1" strike="noStrike">
                <a:solidFill>
                  <a:srgbClr val="7ee787"/>
                </a:solidFill>
                <a:latin typeface="Calibri"/>
              </a:rPr>
              <a:t>레고 블록 자동 조립 시스템</a:t>
            </a:r>
            <a:endParaRPr b="0" lang="en-US" sz="46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914400" y="2743200"/>
            <a:ext cx="10359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b949e"/>
                </a:solidFill>
                <a:latin typeface="Calibri"/>
              </a:rPr>
              <a:t>ROS2 · Doosan M0609 · RG2 Gripper · OpenCV · Flask / Qt UI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914400" y="3383280"/>
            <a:ext cx="10359720" cy="914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7" name="TextBox 7"/>
          <p:cNvSpPr/>
          <p:nvPr/>
        </p:nvSpPr>
        <p:spPr>
          <a:xfrm>
            <a:off x="1097280" y="3493080"/>
            <a:ext cx="9993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400" spc="-1" strike="noStrike">
                <a:solidFill>
                  <a:srgbClr val="e6edf3"/>
                </a:solidFill>
                <a:latin typeface="Calibri"/>
              </a:rPr>
              <a:t>사용자가 업로드한 이미지를 레고 설계도로 변환하고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,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400" spc="-1" strike="noStrike">
                <a:solidFill>
                  <a:srgbClr val="e6edf3"/>
                </a:solidFill>
                <a:latin typeface="Calibri"/>
              </a:rPr>
              <a:t>로봇이 실제 블록을 조립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·</a:t>
            </a:r>
            <a:r>
              <a:rPr b="0" lang="zh-CN" sz="1400" spc="-1" strike="noStrike">
                <a:solidFill>
                  <a:srgbClr val="e6edf3"/>
                </a:solidFill>
                <a:latin typeface="Calibri"/>
              </a:rPr>
              <a:t>검증</a:t>
            </a:r>
            <a:r>
              <a:rPr b="0" lang="en-US" sz="1400" spc="-1" strike="noStrike">
                <a:solidFill>
                  <a:srgbClr val="e6edf3"/>
                </a:solidFill>
                <a:latin typeface="Calibri"/>
              </a:rPr>
              <a:t>·</a:t>
            </a:r>
            <a:r>
              <a:rPr b="0" lang="zh-CN" sz="1400" spc="-1" strike="noStrike">
                <a:solidFill>
                  <a:srgbClr val="e6edf3"/>
                </a:solidFill>
                <a:latin typeface="Calibri"/>
              </a:rPr>
              <a:t>회수하는 자동화 시스템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project · overview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프로젝트 한 줄 요약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914400" y="1965960"/>
            <a:ext cx="10359720" cy="69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4" name="TextBox 5"/>
          <p:cNvSpPr/>
          <p:nvPr/>
        </p:nvSpPr>
        <p:spPr>
          <a:xfrm>
            <a:off x="1051560" y="216720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📥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1554480" y="203904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INPUT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1554480" y="2313360"/>
            <a:ext cx="9445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사용자가 업로드한 이미지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" name="Rectangle 8"/>
          <p:cNvSpPr/>
          <p:nvPr/>
        </p:nvSpPr>
        <p:spPr>
          <a:xfrm>
            <a:off x="914400" y="2770560"/>
            <a:ext cx="10359720" cy="69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8" name="TextBox 9"/>
          <p:cNvSpPr/>
          <p:nvPr/>
        </p:nvSpPr>
        <p:spPr>
          <a:xfrm>
            <a:off x="1051560" y="297180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⚙️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1554480" y="284364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9c0ff"/>
                </a:solidFill>
                <a:latin typeface="Calibri"/>
              </a:rPr>
              <a:t>PROCESS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1554480" y="3117960"/>
            <a:ext cx="9445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색상 격자화 → 블록 단위 분할 → 조립 순서 생성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" name="Rectangle 12"/>
          <p:cNvSpPr/>
          <p:nvPr/>
        </p:nvSpPr>
        <p:spPr>
          <a:xfrm>
            <a:off x="914400" y="3575160"/>
            <a:ext cx="10359720" cy="69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2" name="TextBox 13"/>
          <p:cNvSpPr/>
          <p:nvPr/>
        </p:nvSpPr>
        <p:spPr>
          <a:xfrm>
            <a:off x="1051560" y="377640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🤖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4"/>
          <p:cNvSpPr/>
          <p:nvPr/>
        </p:nvSpPr>
        <p:spPr>
          <a:xfrm>
            <a:off x="1554480" y="36486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d2a8ff"/>
                </a:solidFill>
                <a:latin typeface="Calibri"/>
              </a:rPr>
              <a:t>EXECUTE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4" name="TextBox 15"/>
          <p:cNvSpPr/>
          <p:nvPr/>
        </p:nvSpPr>
        <p:spPr>
          <a:xfrm>
            <a:off x="1554480" y="3922920"/>
            <a:ext cx="9445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로봇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Pick &amp; Place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Rectangle 16"/>
          <p:cNvSpPr/>
          <p:nvPr/>
        </p:nvSpPr>
        <p:spPr>
          <a:xfrm>
            <a:off x="914400" y="4380120"/>
            <a:ext cx="10359720" cy="69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6" name="TextBox 17"/>
          <p:cNvSpPr/>
          <p:nvPr/>
        </p:nvSpPr>
        <p:spPr>
          <a:xfrm>
            <a:off x="1051560" y="4581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1554480" y="44532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7b72"/>
                </a:solidFill>
                <a:latin typeface="Calibri"/>
              </a:rPr>
              <a:t>VERIFY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8" name="TextBox 19"/>
          <p:cNvSpPr/>
          <p:nvPr/>
        </p:nvSpPr>
        <p:spPr>
          <a:xfrm>
            <a:off x="1554480" y="4727520"/>
            <a:ext cx="9445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웹캠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·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전면 카메라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·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외력 감지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Rectangle 20"/>
          <p:cNvSpPr/>
          <p:nvPr/>
        </p:nvSpPr>
        <p:spPr>
          <a:xfrm>
            <a:off x="914400" y="5184720"/>
            <a:ext cx="10359720" cy="6944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0" name="TextBox 21"/>
          <p:cNvSpPr/>
          <p:nvPr/>
        </p:nvSpPr>
        <p:spPr>
          <a:xfrm>
            <a:off x="1051560" y="5385960"/>
            <a:ext cx="365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🖥️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1" name="TextBox 22"/>
          <p:cNvSpPr/>
          <p:nvPr/>
        </p:nvSpPr>
        <p:spPr>
          <a:xfrm>
            <a:off x="1554480" y="5257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CONTROL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2" name="TextBox 23"/>
          <p:cNvSpPr/>
          <p:nvPr/>
        </p:nvSpPr>
        <p:spPr>
          <a:xfrm>
            <a:off x="1554480" y="5532120"/>
            <a:ext cx="9445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UI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에서 진행률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·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오류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·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재개 제어 가능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3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4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background · motivation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프로젝트 배경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914400" y="2103120"/>
            <a:ext cx="5042520" cy="13712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" name="Rectangle 5"/>
          <p:cNvSpPr/>
          <p:nvPr/>
        </p:nvSpPr>
        <p:spPr>
          <a:xfrm>
            <a:off x="914400" y="210312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0" name="TextBox 6"/>
          <p:cNvSpPr/>
          <p:nvPr/>
        </p:nvSpPr>
        <p:spPr>
          <a:xfrm>
            <a:off x="1097280" y="2304360"/>
            <a:ext cx="467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수작업 반복 작업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1097280" y="2670120"/>
            <a:ext cx="467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레고 조립은 반복 작업과 높은 위치 정밀도가 요구됨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2" name="Rectangle 8"/>
          <p:cNvSpPr/>
          <p:nvPr/>
        </p:nvSpPr>
        <p:spPr>
          <a:xfrm>
            <a:off x="6231600" y="2103120"/>
            <a:ext cx="5042520" cy="13712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3" name="Rectangle 9"/>
          <p:cNvSpPr/>
          <p:nvPr/>
        </p:nvSpPr>
        <p:spPr>
          <a:xfrm>
            <a:off x="6231600" y="210312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4" name="TextBox 10"/>
          <p:cNvSpPr/>
          <p:nvPr/>
        </p:nvSpPr>
        <p:spPr>
          <a:xfrm>
            <a:off x="6414480" y="2304360"/>
            <a:ext cx="467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단순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Pick &amp; Place</a:t>
            </a: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의 한계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6414480" y="2670120"/>
            <a:ext cx="467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이미지 설계→블록 분할→체결 검증까지 자동화가 어려움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" name="Rectangle 12"/>
          <p:cNvSpPr/>
          <p:nvPr/>
        </p:nvSpPr>
        <p:spPr>
          <a:xfrm>
            <a:off x="914400" y="3611880"/>
            <a:ext cx="5042520" cy="13712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7" name="Rectangle 13"/>
          <p:cNvSpPr/>
          <p:nvPr/>
        </p:nvSpPr>
        <p:spPr>
          <a:xfrm>
            <a:off x="914400" y="3611880"/>
            <a:ext cx="504252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8" name="TextBox 14"/>
          <p:cNvSpPr/>
          <p:nvPr/>
        </p:nvSpPr>
        <p:spPr>
          <a:xfrm>
            <a:off x="1097280" y="3813120"/>
            <a:ext cx="467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실환경 문제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1097280" y="4178880"/>
            <a:ext cx="467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조명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카메라 왜곡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블록 누락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체결 실패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외력 충돌 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" name="Rectangle 16"/>
          <p:cNvSpPr/>
          <p:nvPr/>
        </p:nvSpPr>
        <p:spPr>
          <a:xfrm>
            <a:off x="6231600" y="3611880"/>
            <a:ext cx="5042520" cy="13712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1" name="Rectangle 17"/>
          <p:cNvSpPr/>
          <p:nvPr/>
        </p:nvSpPr>
        <p:spPr>
          <a:xfrm>
            <a:off x="6231600" y="3611880"/>
            <a:ext cx="504252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2" name="TextBox 18"/>
          <p:cNvSpPr/>
          <p:nvPr/>
        </p:nvSpPr>
        <p:spPr>
          <a:xfrm>
            <a:off x="6414480" y="3813120"/>
            <a:ext cx="467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통합 폐루프 시스템 필요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9"/>
          <p:cNvSpPr/>
          <p:nvPr/>
        </p:nvSpPr>
        <p:spPr>
          <a:xfrm>
            <a:off x="6414480" y="4178880"/>
            <a:ext cx="467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비전→계획→로봇→검증→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UI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를 하나의 폐루프로 통합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7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project · goals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프로젝트 목표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99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1261800" y="2011680"/>
            <a:ext cx="4631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이미지를 레고 색상 격자로 변환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1" name="Oval 6"/>
          <p:cNvSpPr/>
          <p:nvPr/>
        </p:nvSpPr>
        <p:spPr>
          <a:xfrm>
            <a:off x="914400" y="26701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1261800" y="2633400"/>
            <a:ext cx="4631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색상 격자를 실제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2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칸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/3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칸 블록 조립 계획으로 변환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" name="Oval 8"/>
          <p:cNvSpPr/>
          <p:nvPr/>
        </p:nvSpPr>
        <p:spPr>
          <a:xfrm>
            <a:off x="914400" y="32918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1261800" y="3255120"/>
            <a:ext cx="4631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Doosan M0609 + RG2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그리퍼로 자동 조립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5" name="Oval 10"/>
          <p:cNvSpPr/>
          <p:nvPr/>
        </p:nvSpPr>
        <p:spPr>
          <a:xfrm>
            <a:off x="914400" y="39135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1261800" y="3877200"/>
            <a:ext cx="4631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블록 집기 전 웹캠으로 누락 방지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7" name="Oval 12"/>
          <p:cNvSpPr/>
          <p:nvPr/>
        </p:nvSpPr>
        <p:spPr>
          <a:xfrm>
            <a:off x="62316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6579000" y="2011680"/>
            <a:ext cx="4631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조립 후 전면 카메라로 배치 검증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" name="Oval 14"/>
          <p:cNvSpPr/>
          <p:nvPr/>
        </p:nvSpPr>
        <p:spPr>
          <a:xfrm>
            <a:off x="6231600" y="26701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6579000" y="2633400"/>
            <a:ext cx="4631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외력 감지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pause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처리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1" name="Oval 16"/>
          <p:cNvSpPr/>
          <p:nvPr/>
        </p:nvSpPr>
        <p:spPr>
          <a:xfrm>
            <a:off x="6231600" y="32918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6579000" y="32551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웹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/Qt UI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에서 수정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실행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모니터링 제공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3" name="TextBox 18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" name="TextBox 19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deliverables · outcomes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최종 결과물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914400" y="201168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9" name="TextBox 5"/>
          <p:cNvSpPr/>
          <p:nvPr/>
        </p:nvSpPr>
        <p:spPr>
          <a:xfrm>
            <a:off x="1078920" y="2176200"/>
            <a:ext cx="3654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🖼️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1078920" y="256032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이미지 업로드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078920" y="288036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ROI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선택 포함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Rectangle 8"/>
          <p:cNvSpPr/>
          <p:nvPr/>
        </p:nvSpPr>
        <p:spPr>
          <a:xfrm>
            <a:off x="4428720" y="201168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3" name="TextBox 9"/>
          <p:cNvSpPr/>
          <p:nvPr/>
        </p:nvSpPr>
        <p:spPr>
          <a:xfrm>
            <a:off x="4593240" y="217620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🎨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4593240" y="256032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색상 격자 편집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4593240" y="288036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직접 수정 가능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Rectangle 12"/>
          <p:cNvSpPr/>
          <p:nvPr/>
        </p:nvSpPr>
        <p:spPr>
          <a:xfrm>
            <a:off x="7943040" y="201168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7" name="TextBox 13"/>
          <p:cNvSpPr/>
          <p:nvPr/>
        </p:nvSpPr>
        <p:spPr>
          <a:xfrm>
            <a:off x="8107560" y="217620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🧩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8107560" y="256032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블록 분할 미리보기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8107560" y="288036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분할 계획 시각화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Rectangle 16"/>
          <p:cNvSpPr/>
          <p:nvPr/>
        </p:nvSpPr>
        <p:spPr>
          <a:xfrm>
            <a:off x="914400" y="340164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31" name="TextBox 17"/>
          <p:cNvSpPr/>
          <p:nvPr/>
        </p:nvSpPr>
        <p:spPr>
          <a:xfrm>
            <a:off x="1078920" y="356616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🔗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1078920" y="395028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ROS2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조립 파이프라인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1078920" y="427032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end-to-end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실행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4" name="Rectangle 20"/>
          <p:cNvSpPr/>
          <p:nvPr/>
        </p:nvSpPr>
        <p:spPr>
          <a:xfrm>
            <a:off x="4428720" y="340164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35" name="TextBox 21"/>
          <p:cNvSpPr/>
          <p:nvPr/>
        </p:nvSpPr>
        <p:spPr>
          <a:xfrm>
            <a:off x="4593240" y="356616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🤖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4593240" y="395028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로봇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Pick &amp; Place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TextBox 23"/>
          <p:cNvSpPr/>
          <p:nvPr/>
        </p:nvSpPr>
        <p:spPr>
          <a:xfrm>
            <a:off x="4593240" y="427032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Force + Spiral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체결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8" name="Rectangle 24"/>
          <p:cNvSpPr/>
          <p:nvPr/>
        </p:nvSpPr>
        <p:spPr>
          <a:xfrm>
            <a:off x="7943040" y="340164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39" name="TextBox 25"/>
          <p:cNvSpPr/>
          <p:nvPr/>
        </p:nvSpPr>
        <p:spPr>
          <a:xfrm>
            <a:off x="8107560" y="356616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📷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8107560" y="395028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웹캠 블록 검사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8107560" y="427032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집기 전 누락 확인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2" name="Rectangle 28"/>
          <p:cNvSpPr/>
          <p:nvPr/>
        </p:nvSpPr>
        <p:spPr>
          <a:xfrm>
            <a:off x="914400" y="479160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43" name="TextBox 29"/>
          <p:cNvSpPr/>
          <p:nvPr/>
        </p:nvSpPr>
        <p:spPr>
          <a:xfrm>
            <a:off x="1078920" y="495612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🔍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4" name="TextBox 30"/>
          <p:cNvSpPr/>
          <p:nvPr/>
        </p:nvSpPr>
        <p:spPr>
          <a:xfrm>
            <a:off x="1078920" y="534024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전면 카메라 검증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5" name="TextBox 31"/>
          <p:cNvSpPr/>
          <p:nvPr/>
        </p:nvSpPr>
        <p:spPr>
          <a:xfrm>
            <a:off x="1078920" y="566028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조립 결과 확인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6" name="Rectangle 32"/>
          <p:cNvSpPr/>
          <p:nvPr/>
        </p:nvSpPr>
        <p:spPr>
          <a:xfrm>
            <a:off x="4428720" y="479160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47" name="TextBox 33"/>
          <p:cNvSpPr/>
          <p:nvPr/>
        </p:nvSpPr>
        <p:spPr>
          <a:xfrm>
            <a:off x="4593240" y="495612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⚠️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8" name="TextBox 34"/>
          <p:cNvSpPr/>
          <p:nvPr/>
        </p:nvSpPr>
        <p:spPr>
          <a:xfrm>
            <a:off x="4593240" y="534024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외력 감지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+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일시정지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9" name="TextBox 35"/>
          <p:cNvSpPr/>
          <p:nvPr/>
        </p:nvSpPr>
        <p:spPr>
          <a:xfrm>
            <a:off x="4593240" y="566028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안전 처리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Rectangle 36"/>
          <p:cNvSpPr/>
          <p:nvPr/>
        </p:nvSpPr>
        <p:spPr>
          <a:xfrm>
            <a:off x="7943040" y="4791600"/>
            <a:ext cx="333108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51" name="TextBox 37"/>
          <p:cNvSpPr/>
          <p:nvPr/>
        </p:nvSpPr>
        <p:spPr>
          <a:xfrm>
            <a:off x="8107560" y="4956120"/>
            <a:ext cx="365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6edf3"/>
                </a:solidFill>
                <a:latin typeface="Noto Color Emoji"/>
              </a:rPr>
              <a:t>♻️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2" name="TextBox 38"/>
          <p:cNvSpPr/>
          <p:nvPr/>
        </p:nvSpPr>
        <p:spPr>
          <a:xfrm>
            <a:off x="8107560" y="5340240"/>
            <a:ext cx="305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자동 해제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&amp;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폐기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3" name="TextBox 39"/>
          <p:cNvSpPr/>
          <p:nvPr/>
        </p:nvSpPr>
        <p:spPr>
          <a:xfrm>
            <a:off x="8107560" y="5660280"/>
            <a:ext cx="3056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반복 데모 지원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4" name="TextBox 40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5" name="TextBox 41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5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57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system · architecture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전체 시스템 아키텍처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59" name="Rectangle 4"/>
          <p:cNvSpPr/>
          <p:nvPr/>
        </p:nvSpPr>
        <p:spPr>
          <a:xfrm>
            <a:off x="914400" y="1874520"/>
            <a:ext cx="5065560" cy="822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60" name="Rectangle 5"/>
          <p:cNvSpPr/>
          <p:nvPr/>
        </p:nvSpPr>
        <p:spPr>
          <a:xfrm>
            <a:off x="914400" y="1874520"/>
            <a:ext cx="506556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61" name="TextBox 6"/>
          <p:cNvSpPr/>
          <p:nvPr/>
        </p:nvSpPr>
        <p:spPr>
          <a:xfrm>
            <a:off x="1005840" y="1984320"/>
            <a:ext cx="4882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9c0ff"/>
                </a:solidFill>
                <a:latin typeface="Calibri"/>
              </a:rPr>
              <a:t>USER INTERFACE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1005840" y="2167200"/>
            <a:ext cx="4882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Flask Web UI / Qt Desktop UI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3" name="Rectangle 8"/>
          <p:cNvSpPr/>
          <p:nvPr/>
        </p:nvSpPr>
        <p:spPr>
          <a:xfrm>
            <a:off x="6208920" y="1874520"/>
            <a:ext cx="5065560" cy="822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64" name="Rectangle 9"/>
          <p:cNvSpPr/>
          <p:nvPr/>
        </p:nvSpPr>
        <p:spPr>
          <a:xfrm>
            <a:off x="6208920" y="1874520"/>
            <a:ext cx="506556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65" name="TextBox 10"/>
          <p:cNvSpPr/>
          <p:nvPr/>
        </p:nvSpPr>
        <p:spPr>
          <a:xfrm>
            <a:off x="6300360" y="1984320"/>
            <a:ext cx="4882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d2a8ff"/>
                </a:solidFill>
                <a:latin typeface="Calibri"/>
              </a:rPr>
              <a:t>BRIDGE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6" name="TextBox 11"/>
          <p:cNvSpPr/>
          <p:nvPr/>
        </p:nvSpPr>
        <p:spPr>
          <a:xfrm>
            <a:off x="6300360" y="2167200"/>
            <a:ext cx="4882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BridgeNode — UI ↔ ROS2 </a:t>
            </a:r>
            <a:r>
              <a:rPr b="1" lang="zh-CN" sz="1200" spc="-1" strike="noStrike">
                <a:solidFill>
                  <a:srgbClr val="ffffff"/>
                </a:solidFill>
                <a:latin typeface="Calibri"/>
              </a:rPr>
              <a:t>변환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7" name="TextBox 12"/>
          <p:cNvSpPr/>
          <p:nvPr/>
        </p:nvSpPr>
        <p:spPr>
          <a:xfrm>
            <a:off x="3961800" y="2816280"/>
            <a:ext cx="914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e7681"/>
                </a:solidFill>
                <a:latin typeface="Calibri"/>
              </a:rPr>
              <a:t>↓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9141840" y="2816280"/>
            <a:ext cx="914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e7681"/>
                </a:solidFill>
                <a:latin typeface="Calibri"/>
              </a:rPr>
              <a:t>↓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9" name="Rectangle 14"/>
          <p:cNvSpPr/>
          <p:nvPr/>
        </p:nvSpPr>
        <p:spPr>
          <a:xfrm>
            <a:off x="914400" y="3154680"/>
            <a:ext cx="3331080" cy="804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70" name="Rectangle 15"/>
          <p:cNvSpPr/>
          <p:nvPr/>
        </p:nvSpPr>
        <p:spPr>
          <a:xfrm>
            <a:off x="914400" y="3154680"/>
            <a:ext cx="333108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71" name="TextBox 16"/>
          <p:cNvSpPr/>
          <p:nvPr/>
        </p:nvSpPr>
        <p:spPr>
          <a:xfrm>
            <a:off x="1005840" y="3264480"/>
            <a:ext cx="3148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VISION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2" name="TextBox 17"/>
          <p:cNvSpPr/>
          <p:nvPr/>
        </p:nvSpPr>
        <p:spPr>
          <a:xfrm>
            <a:off x="1005840" y="34473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ImageProcessorNode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3" name="TextBox 18"/>
          <p:cNvSpPr/>
          <p:nvPr/>
        </p:nvSpPr>
        <p:spPr>
          <a:xfrm>
            <a:off x="1005840" y="3749040"/>
            <a:ext cx="3148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8b949e"/>
                </a:solidFill>
                <a:latin typeface="Calibri"/>
              </a:rPr>
              <a:t>이미지 → 색상 격자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4" name="Rectangle 19"/>
          <p:cNvSpPr/>
          <p:nvPr/>
        </p:nvSpPr>
        <p:spPr>
          <a:xfrm>
            <a:off x="4428720" y="3154680"/>
            <a:ext cx="3331080" cy="804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75" name="Rectangle 20"/>
          <p:cNvSpPr/>
          <p:nvPr/>
        </p:nvSpPr>
        <p:spPr>
          <a:xfrm>
            <a:off x="4428720" y="3154680"/>
            <a:ext cx="333108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76" name="TextBox 21"/>
          <p:cNvSpPr/>
          <p:nvPr/>
        </p:nvSpPr>
        <p:spPr>
          <a:xfrm>
            <a:off x="4520160" y="3264480"/>
            <a:ext cx="3148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PLANNING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7" name="TextBox 22"/>
          <p:cNvSpPr/>
          <p:nvPr/>
        </p:nvSpPr>
        <p:spPr>
          <a:xfrm>
            <a:off x="4520160" y="34473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SequencerNode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8" name="TextBox 23"/>
          <p:cNvSpPr/>
          <p:nvPr/>
        </p:nvSpPr>
        <p:spPr>
          <a:xfrm>
            <a:off x="4520160" y="3749040"/>
            <a:ext cx="3148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8b949e"/>
                </a:solidFill>
                <a:latin typeface="Calibri"/>
              </a:rPr>
              <a:t>색상 격자 → </a:t>
            </a: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BlockTask[]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9" name="Rectangle 24"/>
          <p:cNvSpPr/>
          <p:nvPr/>
        </p:nvSpPr>
        <p:spPr>
          <a:xfrm>
            <a:off x="7943040" y="3154680"/>
            <a:ext cx="3331080" cy="804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0" name="Rectangle 25"/>
          <p:cNvSpPr/>
          <p:nvPr/>
        </p:nvSpPr>
        <p:spPr>
          <a:xfrm>
            <a:off x="7943040" y="3154680"/>
            <a:ext cx="333108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1" name="TextBox 26"/>
          <p:cNvSpPr/>
          <p:nvPr/>
        </p:nvSpPr>
        <p:spPr>
          <a:xfrm>
            <a:off x="8034480" y="3264480"/>
            <a:ext cx="3148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EXECUTION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2" name="TextBox 27"/>
          <p:cNvSpPr/>
          <p:nvPr/>
        </p:nvSpPr>
        <p:spPr>
          <a:xfrm>
            <a:off x="8034480" y="34473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RobotControllerNode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3" name="TextBox 28"/>
          <p:cNvSpPr/>
          <p:nvPr/>
        </p:nvSpPr>
        <p:spPr>
          <a:xfrm>
            <a:off x="8034480" y="3749040"/>
            <a:ext cx="3148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Pick &amp; Place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4" name="Rectangle 29"/>
          <p:cNvSpPr/>
          <p:nvPr/>
        </p:nvSpPr>
        <p:spPr>
          <a:xfrm>
            <a:off x="914400" y="4078080"/>
            <a:ext cx="3331080" cy="804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5" name="Rectangle 30"/>
          <p:cNvSpPr/>
          <p:nvPr/>
        </p:nvSpPr>
        <p:spPr>
          <a:xfrm>
            <a:off x="914400" y="4078080"/>
            <a:ext cx="333108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86" name="TextBox 31"/>
          <p:cNvSpPr/>
          <p:nvPr/>
        </p:nvSpPr>
        <p:spPr>
          <a:xfrm>
            <a:off x="1005840" y="4187880"/>
            <a:ext cx="3148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9c0ff"/>
                </a:solidFill>
                <a:latin typeface="Calibri"/>
              </a:rPr>
              <a:t>WEBCAM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7" name="TextBox 32"/>
          <p:cNvSpPr/>
          <p:nvPr/>
        </p:nvSpPr>
        <p:spPr>
          <a:xfrm>
            <a:off x="1005840" y="43707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WebcamCheckerNode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TextBox 33"/>
          <p:cNvSpPr/>
          <p:nvPr/>
        </p:nvSpPr>
        <p:spPr>
          <a:xfrm>
            <a:off x="1005840" y="4672440"/>
            <a:ext cx="3148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Pick </a:t>
            </a:r>
            <a:r>
              <a:rPr b="0" lang="zh-CN" sz="1000" spc="-1" strike="noStrike">
                <a:solidFill>
                  <a:srgbClr val="8b949e"/>
                </a:solidFill>
                <a:latin typeface="Calibri"/>
              </a:rPr>
              <a:t>전 블록 확인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9" name="Rectangle 34"/>
          <p:cNvSpPr/>
          <p:nvPr/>
        </p:nvSpPr>
        <p:spPr>
          <a:xfrm>
            <a:off x="4428720" y="4078080"/>
            <a:ext cx="3331080" cy="804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90" name="Rectangle 35"/>
          <p:cNvSpPr/>
          <p:nvPr/>
        </p:nvSpPr>
        <p:spPr>
          <a:xfrm>
            <a:off x="4428720" y="4078080"/>
            <a:ext cx="333108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91" name="TextBox 36"/>
          <p:cNvSpPr/>
          <p:nvPr/>
        </p:nvSpPr>
        <p:spPr>
          <a:xfrm>
            <a:off x="4520160" y="4187880"/>
            <a:ext cx="3148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9c0ff"/>
                </a:solidFill>
                <a:latin typeface="Calibri"/>
              </a:rPr>
              <a:t>VERIFY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2" name="TextBox 37"/>
          <p:cNvSpPr/>
          <p:nvPr/>
        </p:nvSpPr>
        <p:spPr>
          <a:xfrm>
            <a:off x="4520160" y="43707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VerifyNode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3" name="TextBox 38"/>
          <p:cNvSpPr/>
          <p:nvPr/>
        </p:nvSpPr>
        <p:spPr>
          <a:xfrm>
            <a:off x="4520160" y="4672440"/>
            <a:ext cx="3148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8b949e"/>
                </a:solidFill>
                <a:latin typeface="Calibri"/>
              </a:rPr>
              <a:t>조립 결과 검증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4" name="Rectangle 39"/>
          <p:cNvSpPr/>
          <p:nvPr/>
        </p:nvSpPr>
        <p:spPr>
          <a:xfrm>
            <a:off x="7943040" y="4078080"/>
            <a:ext cx="3331080" cy="804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95" name="Rectangle 40"/>
          <p:cNvSpPr/>
          <p:nvPr/>
        </p:nvSpPr>
        <p:spPr>
          <a:xfrm>
            <a:off x="7943040" y="4078080"/>
            <a:ext cx="333108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96" name="TextBox 41"/>
          <p:cNvSpPr/>
          <p:nvPr/>
        </p:nvSpPr>
        <p:spPr>
          <a:xfrm>
            <a:off x="8034480" y="4187880"/>
            <a:ext cx="3148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7b72"/>
                </a:solidFill>
                <a:latin typeface="Calibri"/>
              </a:rPr>
              <a:t>SAFETY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7" name="TextBox 42"/>
          <p:cNvSpPr/>
          <p:nvPr/>
        </p:nvSpPr>
        <p:spPr>
          <a:xfrm>
            <a:off x="8034480" y="43707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ForceMonitorNode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8" name="TextBox 43"/>
          <p:cNvSpPr/>
          <p:nvPr/>
        </p:nvSpPr>
        <p:spPr>
          <a:xfrm>
            <a:off x="8034480" y="4672440"/>
            <a:ext cx="3148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000" spc="-1" strike="noStrike">
                <a:solidFill>
                  <a:srgbClr val="8b949e"/>
                </a:solidFill>
                <a:latin typeface="Calibri"/>
              </a:rPr>
              <a:t>외력 감지 </a:t>
            </a: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100Hz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9" name="Rectangle 44"/>
          <p:cNvSpPr/>
          <p:nvPr/>
        </p:nvSpPr>
        <p:spPr>
          <a:xfrm>
            <a:off x="914400" y="4983480"/>
            <a:ext cx="10359720" cy="658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0" name="Rectangle 45"/>
          <p:cNvSpPr/>
          <p:nvPr/>
        </p:nvSpPr>
        <p:spPr>
          <a:xfrm>
            <a:off x="914400" y="4983480"/>
            <a:ext cx="1035972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1" name="TextBox 46"/>
          <p:cNvSpPr/>
          <p:nvPr/>
        </p:nvSpPr>
        <p:spPr>
          <a:xfrm>
            <a:off x="1097280" y="50839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HARDWARE  ·  Doosan M0609  ·  OnRobot RG2  · 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웹캠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· 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전면 카메라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2" name="TextBox 47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3" name="TextBox 48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6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5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technology · stack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기술 스택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07" name="Rectangle 4"/>
          <p:cNvSpPr/>
          <p:nvPr/>
        </p:nvSpPr>
        <p:spPr>
          <a:xfrm>
            <a:off x="914400" y="201168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8" name="Rectangle 5"/>
          <p:cNvSpPr/>
          <p:nvPr/>
        </p:nvSpPr>
        <p:spPr>
          <a:xfrm>
            <a:off x="9144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09" name="TextBox 6"/>
          <p:cNvSpPr/>
          <p:nvPr/>
        </p:nvSpPr>
        <p:spPr>
          <a:xfrm>
            <a:off x="1078920" y="219456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Language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1078920" y="25236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Python · JavaScript · HTML/CSS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1" name="Rectangle 8"/>
          <p:cNvSpPr/>
          <p:nvPr/>
        </p:nvSpPr>
        <p:spPr>
          <a:xfrm>
            <a:off x="6231600" y="201168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12" name="Rectangle 9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13" name="TextBox 10"/>
          <p:cNvSpPr/>
          <p:nvPr/>
        </p:nvSpPr>
        <p:spPr>
          <a:xfrm>
            <a:off x="6396120" y="219456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Robot / Middleware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6396120" y="25236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ROS2 Humble · Doosan M0609 · DSR SDK · DRFL · OnRobot RG2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5" name="Rectangle 12"/>
          <p:cNvSpPr/>
          <p:nvPr/>
        </p:nvSpPr>
        <p:spPr>
          <a:xfrm>
            <a:off x="914400" y="342900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16" name="Rectangle 13"/>
          <p:cNvSpPr/>
          <p:nvPr/>
        </p:nvSpPr>
        <p:spPr>
          <a:xfrm>
            <a:off x="914400" y="3429000"/>
            <a:ext cx="504252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17" name="TextBox 14"/>
          <p:cNvSpPr/>
          <p:nvPr/>
        </p:nvSpPr>
        <p:spPr>
          <a:xfrm>
            <a:off x="1078920" y="361188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d2a8ff"/>
                </a:solidFill>
                <a:latin typeface="Calibri"/>
              </a:rPr>
              <a:t>Vision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8" name="TextBox 15"/>
          <p:cNvSpPr/>
          <p:nvPr/>
        </p:nvSpPr>
        <p:spPr>
          <a:xfrm>
            <a:off x="1078920" y="39409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OpenCV · NumPy · cv_bridge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9" name="Rectangle 16"/>
          <p:cNvSpPr/>
          <p:nvPr/>
        </p:nvSpPr>
        <p:spPr>
          <a:xfrm>
            <a:off x="6231600" y="342900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20" name="Rectangle 17"/>
          <p:cNvSpPr/>
          <p:nvPr/>
        </p:nvSpPr>
        <p:spPr>
          <a:xfrm>
            <a:off x="6231600" y="3429000"/>
            <a:ext cx="504252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21" name="TextBox 18"/>
          <p:cNvSpPr/>
          <p:nvPr/>
        </p:nvSpPr>
        <p:spPr>
          <a:xfrm>
            <a:off x="6396120" y="361188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UI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2" name="TextBox 19"/>
          <p:cNvSpPr/>
          <p:nvPr/>
        </p:nvSpPr>
        <p:spPr>
          <a:xfrm>
            <a:off x="6396120" y="39409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Flask · Flask-SocketIO · PySide6 Qt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3" name="Rectangle 20"/>
          <p:cNvSpPr/>
          <p:nvPr/>
        </p:nvSpPr>
        <p:spPr>
          <a:xfrm>
            <a:off x="914400" y="484632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24" name="Rectangle 21"/>
          <p:cNvSpPr/>
          <p:nvPr/>
        </p:nvSpPr>
        <p:spPr>
          <a:xfrm>
            <a:off x="914400" y="484632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25" name="TextBox 22"/>
          <p:cNvSpPr/>
          <p:nvPr/>
        </p:nvSpPr>
        <p:spPr>
          <a:xfrm>
            <a:off x="1078920" y="502920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Build / Interface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6" name="TextBox 23"/>
          <p:cNvSpPr/>
          <p:nvPr/>
        </p:nvSpPr>
        <p:spPr>
          <a:xfrm>
            <a:off x="1078920" y="535824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colcon · ament_python · ROS2 msg/srv/action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7" name="Rectangle 24"/>
          <p:cNvSpPr/>
          <p:nvPr/>
        </p:nvSpPr>
        <p:spPr>
          <a:xfrm>
            <a:off x="6231600" y="484632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28" name="Rectangle 25"/>
          <p:cNvSpPr/>
          <p:nvPr/>
        </p:nvSpPr>
        <p:spPr>
          <a:xfrm>
            <a:off x="6231600" y="484632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29" name="TextBox 26"/>
          <p:cNvSpPr/>
          <p:nvPr/>
        </p:nvSpPr>
        <p:spPr>
          <a:xfrm>
            <a:off x="6396120" y="502920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Data / Debug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0" name="TextBox 27"/>
          <p:cNvSpPr/>
          <p:nvPr/>
        </p:nvSpPr>
        <p:spPr>
          <a:xfrm>
            <a:off x="6396120" y="535824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SQLite · debug image </a:t>
            </a:r>
            <a:r>
              <a:rPr b="0" lang="zh-CN" sz="1100" spc="-1" strike="noStrike">
                <a:solidFill>
                  <a:srgbClr val="e6edf3"/>
                </a:solidFill>
                <a:latin typeface="Calibri"/>
              </a:rPr>
              <a:t>저장 </a:t>
            </a: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· ROS topic overlay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1" name="TextBox 28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2" name="TextBox 29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7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34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team · roles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5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팀 내 역할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36" name="Rectangle 4"/>
          <p:cNvSpPr/>
          <p:nvPr/>
        </p:nvSpPr>
        <p:spPr>
          <a:xfrm>
            <a:off x="914400" y="201168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37" name="TextBox 5"/>
          <p:cNvSpPr/>
          <p:nvPr/>
        </p:nvSpPr>
        <p:spPr>
          <a:xfrm>
            <a:off x="1051560" y="2359080"/>
            <a:ext cx="456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e6edf3"/>
                </a:solidFill>
                <a:latin typeface="Noto Color Emoji"/>
              </a:rPr>
              <a:t>👁️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8" name="TextBox 6"/>
          <p:cNvSpPr/>
          <p:nvPr/>
        </p:nvSpPr>
        <p:spPr>
          <a:xfrm>
            <a:off x="1554480" y="2176200"/>
            <a:ext cx="4265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비전 담당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9" name="TextBox 7"/>
          <p:cNvSpPr/>
          <p:nvPr/>
        </p:nvSpPr>
        <p:spPr>
          <a:xfrm>
            <a:off x="1554480" y="2514600"/>
            <a:ext cx="4265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이미지 분석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색상 격자화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ROI,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검증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overlay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0" name="Rectangle 8"/>
          <p:cNvSpPr/>
          <p:nvPr/>
        </p:nvSpPr>
        <p:spPr>
          <a:xfrm>
            <a:off x="6231600" y="201168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41" name="TextBox 9"/>
          <p:cNvSpPr/>
          <p:nvPr/>
        </p:nvSpPr>
        <p:spPr>
          <a:xfrm>
            <a:off x="6368760" y="2359080"/>
            <a:ext cx="456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e6edf3"/>
                </a:solidFill>
                <a:latin typeface="Noto Color Emoji"/>
              </a:rPr>
              <a:t>🤖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2" name="TextBox 10"/>
          <p:cNvSpPr/>
          <p:nvPr/>
        </p:nvSpPr>
        <p:spPr>
          <a:xfrm>
            <a:off x="6871680" y="2176200"/>
            <a:ext cx="4265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로봇 제어 담당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3" name="TextBox 11"/>
          <p:cNvSpPr/>
          <p:nvPr/>
        </p:nvSpPr>
        <p:spPr>
          <a:xfrm>
            <a:off x="6871680" y="2514600"/>
            <a:ext cx="4265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Pick &amp; Place, Force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제어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Spiral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체결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트레이 좌표 튜닝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4" name="Rectangle 12"/>
          <p:cNvSpPr/>
          <p:nvPr/>
        </p:nvSpPr>
        <p:spPr>
          <a:xfrm>
            <a:off x="914400" y="342900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45" name="TextBox 13"/>
          <p:cNvSpPr/>
          <p:nvPr/>
        </p:nvSpPr>
        <p:spPr>
          <a:xfrm>
            <a:off x="1051560" y="3776400"/>
            <a:ext cx="456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e6edf3"/>
                </a:solidFill>
                <a:latin typeface="Noto Color Emoji"/>
              </a:rPr>
              <a:t>🔢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1554480" y="3593520"/>
            <a:ext cx="4265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시퀀싱 담당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7" name="TextBox 15"/>
          <p:cNvSpPr/>
          <p:nvPr/>
        </p:nvSpPr>
        <p:spPr>
          <a:xfrm>
            <a:off x="1554480" y="3931920"/>
            <a:ext cx="4265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Beam Search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기반 블록 분할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작업 순서 생성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8" name="Rectangle 16"/>
          <p:cNvSpPr/>
          <p:nvPr/>
        </p:nvSpPr>
        <p:spPr>
          <a:xfrm>
            <a:off x="6231600" y="342900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49" name="TextBox 17"/>
          <p:cNvSpPr/>
          <p:nvPr/>
        </p:nvSpPr>
        <p:spPr>
          <a:xfrm>
            <a:off x="6368760" y="3776400"/>
            <a:ext cx="456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e6edf3"/>
                </a:solidFill>
                <a:latin typeface="Noto Color Emoji"/>
              </a:rPr>
              <a:t>🌐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0" name="TextBox 18"/>
          <p:cNvSpPr/>
          <p:nvPr/>
        </p:nvSpPr>
        <p:spPr>
          <a:xfrm>
            <a:off x="6871680" y="3593520"/>
            <a:ext cx="4265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UI/Bridge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담당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1" name="TextBox 19"/>
          <p:cNvSpPr/>
          <p:nvPr/>
        </p:nvSpPr>
        <p:spPr>
          <a:xfrm>
            <a:off x="6871680" y="3931920"/>
            <a:ext cx="4265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Flask/Qt UI, SocketIO, ROS2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연동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2" name="Rectangle 20"/>
          <p:cNvSpPr/>
          <p:nvPr/>
        </p:nvSpPr>
        <p:spPr>
          <a:xfrm>
            <a:off x="914400" y="484632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53" name="TextBox 21"/>
          <p:cNvSpPr/>
          <p:nvPr/>
        </p:nvSpPr>
        <p:spPr>
          <a:xfrm>
            <a:off x="1051560" y="5193720"/>
            <a:ext cx="456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e6edf3"/>
                </a:solidFill>
                <a:latin typeface="Noto Color Emoji"/>
              </a:rPr>
              <a:t>🛡️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4" name="TextBox 22"/>
          <p:cNvSpPr/>
          <p:nvPr/>
        </p:nvSpPr>
        <p:spPr>
          <a:xfrm>
            <a:off x="1554480" y="5010840"/>
            <a:ext cx="4265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안전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/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검증 담당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5" name="TextBox 23"/>
          <p:cNvSpPr/>
          <p:nvPr/>
        </p:nvSpPr>
        <p:spPr>
          <a:xfrm>
            <a:off x="1554480" y="5349240"/>
            <a:ext cx="4265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웹캠 검사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외력 감지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pause/resume,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오류 처리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6" name="Rectangle 24"/>
          <p:cNvSpPr/>
          <p:nvPr/>
        </p:nvSpPr>
        <p:spPr>
          <a:xfrm>
            <a:off x="6231600" y="4846320"/>
            <a:ext cx="5042520" cy="12614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57" name="TextBox 25"/>
          <p:cNvSpPr/>
          <p:nvPr/>
        </p:nvSpPr>
        <p:spPr>
          <a:xfrm>
            <a:off x="6368760" y="5193720"/>
            <a:ext cx="456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e6edf3"/>
                </a:solidFill>
                <a:latin typeface="Noto Color Emoji"/>
              </a:rPr>
              <a:t>🔧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8" name="TextBox 26"/>
          <p:cNvSpPr/>
          <p:nvPr/>
        </p:nvSpPr>
        <p:spPr>
          <a:xfrm>
            <a:off x="6871680" y="5010840"/>
            <a:ext cx="4265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통합 담당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9" name="TextBox 27"/>
          <p:cNvSpPr/>
          <p:nvPr/>
        </p:nvSpPr>
        <p:spPr>
          <a:xfrm>
            <a:off x="6871680" y="5349240"/>
            <a:ext cx="4265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패키지 구조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launch,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인터페이스 통합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발표 자료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0" name="TextBox 28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1" name="TextBox 29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8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63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my · role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본인 역할 정리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65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1261800" y="201168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ROS2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패키지 통합 및 인터페이스 정리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7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1261800" y="26701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이미지 분석 결과와 로봇 실행 파이프라인 연결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9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1261800" y="332856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Sequencer / RobotController / Bridge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연동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1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1261800" y="398664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웹캠 검사 및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pause/retry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구조 설계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3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74" name="TextBox 13"/>
          <p:cNvSpPr/>
          <p:nvPr/>
        </p:nvSpPr>
        <p:spPr>
          <a:xfrm>
            <a:off x="1261800" y="464508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발표 자료 및 트러블슈팅 문서화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5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1261800" y="53035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실제 로봇 테스트 과정에서 좌표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·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파라미터 튜닝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7" name="TextBox 1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8" name="TextBox 1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9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80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ros2 · interfaces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1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주요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ROS2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인터페이스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82" name="Rectangle 4"/>
          <p:cNvSpPr/>
          <p:nvPr/>
        </p:nvSpPr>
        <p:spPr>
          <a:xfrm>
            <a:off x="914400" y="201168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83" name="TextBox 5"/>
          <p:cNvSpPr/>
          <p:nvPr/>
        </p:nvSpPr>
        <p:spPr>
          <a:xfrm>
            <a:off x="1051560" y="212148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/image/analyze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4" name="TextBox 6"/>
          <p:cNvSpPr/>
          <p:nvPr/>
        </p:nvSpPr>
        <p:spPr>
          <a:xfrm>
            <a:off x="4572000" y="212148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이미지 분석 서비스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5" name="Rectangle 7"/>
          <p:cNvSpPr/>
          <p:nvPr/>
        </p:nvSpPr>
        <p:spPr>
          <a:xfrm>
            <a:off x="10451520" y="210312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86" name="TextBox 8"/>
          <p:cNvSpPr/>
          <p:nvPr/>
        </p:nvSpPr>
        <p:spPr>
          <a:xfrm>
            <a:off x="10451520" y="210312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srv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7" name="Rectangle 9"/>
          <p:cNvSpPr/>
          <p:nvPr/>
        </p:nvSpPr>
        <p:spPr>
          <a:xfrm>
            <a:off x="914400" y="257868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88" name="TextBox 10"/>
          <p:cNvSpPr/>
          <p:nvPr/>
        </p:nvSpPr>
        <p:spPr>
          <a:xfrm>
            <a:off x="1051560" y="268848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/sequence/plan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9" name="TextBox 11"/>
          <p:cNvSpPr/>
          <p:nvPr/>
        </p:nvSpPr>
        <p:spPr>
          <a:xfrm>
            <a:off x="4572000" y="268848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블록 배치 계획 서비스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0" name="Rectangle 12"/>
          <p:cNvSpPr/>
          <p:nvPr/>
        </p:nvSpPr>
        <p:spPr>
          <a:xfrm>
            <a:off x="10451520" y="267012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91" name="TextBox 13"/>
          <p:cNvSpPr/>
          <p:nvPr/>
        </p:nvSpPr>
        <p:spPr>
          <a:xfrm>
            <a:off x="10451520" y="267012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srv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2" name="Rectangle 14"/>
          <p:cNvSpPr/>
          <p:nvPr/>
        </p:nvSpPr>
        <p:spPr>
          <a:xfrm>
            <a:off x="914400" y="314568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93" name="TextBox 15"/>
          <p:cNvSpPr/>
          <p:nvPr/>
        </p:nvSpPr>
        <p:spPr>
          <a:xfrm>
            <a:off x="1051560" y="325512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/execute_queue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4" name="TextBox 16"/>
          <p:cNvSpPr/>
          <p:nvPr/>
        </p:nvSpPr>
        <p:spPr>
          <a:xfrm>
            <a:off x="4572000" y="325512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로봇 실행 액션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5" name="Rectangle 17"/>
          <p:cNvSpPr/>
          <p:nvPr/>
        </p:nvSpPr>
        <p:spPr>
          <a:xfrm>
            <a:off x="10451520" y="323712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96" name="TextBox 18"/>
          <p:cNvSpPr/>
          <p:nvPr/>
        </p:nvSpPr>
        <p:spPr>
          <a:xfrm>
            <a:off x="10451520" y="323712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9c0ff"/>
                </a:solidFill>
                <a:latin typeface="Calibri"/>
              </a:rPr>
              <a:t>action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7" name="Rectangle 19"/>
          <p:cNvSpPr/>
          <p:nvPr/>
        </p:nvSpPr>
        <p:spPr>
          <a:xfrm>
            <a:off x="914400" y="371232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298" name="TextBox 20"/>
          <p:cNvSpPr/>
          <p:nvPr/>
        </p:nvSpPr>
        <p:spPr>
          <a:xfrm>
            <a:off x="1051560" y="382212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/vision/expected_model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9" name="TextBox 21"/>
          <p:cNvSpPr/>
          <p:nvPr/>
        </p:nvSpPr>
        <p:spPr>
          <a:xfrm>
            <a:off x="4572000" y="382212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기준 모델 공유 토픽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0" name="Rectangle 22"/>
          <p:cNvSpPr/>
          <p:nvPr/>
        </p:nvSpPr>
        <p:spPr>
          <a:xfrm>
            <a:off x="10451520" y="380376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01" name="TextBox 23"/>
          <p:cNvSpPr/>
          <p:nvPr/>
        </p:nvSpPr>
        <p:spPr>
          <a:xfrm>
            <a:off x="10451520" y="380376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d2a8ff"/>
                </a:solidFill>
                <a:latin typeface="Calibri"/>
              </a:rPr>
              <a:t>topic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2" name="Rectangle 24"/>
          <p:cNvSpPr/>
          <p:nvPr/>
        </p:nvSpPr>
        <p:spPr>
          <a:xfrm>
            <a:off x="914400" y="427932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03" name="TextBox 25"/>
          <p:cNvSpPr/>
          <p:nvPr/>
        </p:nvSpPr>
        <p:spPr>
          <a:xfrm>
            <a:off x="1051560" y="438912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/front_camera/image_raw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4" name="TextBox 26"/>
          <p:cNvSpPr/>
          <p:nvPr/>
        </p:nvSpPr>
        <p:spPr>
          <a:xfrm>
            <a:off x="4572000" y="438912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전면 카메라 이미지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5" name="Rectangle 27"/>
          <p:cNvSpPr/>
          <p:nvPr/>
        </p:nvSpPr>
        <p:spPr>
          <a:xfrm>
            <a:off x="10451520" y="437076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06" name="TextBox 28"/>
          <p:cNvSpPr/>
          <p:nvPr/>
        </p:nvSpPr>
        <p:spPr>
          <a:xfrm>
            <a:off x="10451520" y="437076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d2a8ff"/>
                </a:solidFill>
                <a:latin typeface="Calibri"/>
              </a:rPr>
              <a:t>topic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7" name="Rectangle 29"/>
          <p:cNvSpPr/>
          <p:nvPr/>
        </p:nvSpPr>
        <p:spPr>
          <a:xfrm>
            <a:off x="914400" y="484632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08" name="TextBox 30"/>
          <p:cNvSpPr/>
          <p:nvPr/>
        </p:nvSpPr>
        <p:spPr>
          <a:xfrm>
            <a:off x="1051560" y="495612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/webcam/check_block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9" name="TextBox 31"/>
          <p:cNvSpPr/>
          <p:nvPr/>
        </p:nvSpPr>
        <p:spPr>
          <a:xfrm>
            <a:off x="4572000" y="495612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픽업 전 블록 검사 서비스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0" name="Rectangle 32"/>
          <p:cNvSpPr/>
          <p:nvPr/>
        </p:nvSpPr>
        <p:spPr>
          <a:xfrm>
            <a:off x="10451520" y="493776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11" name="TextBox 33"/>
          <p:cNvSpPr/>
          <p:nvPr/>
        </p:nvSpPr>
        <p:spPr>
          <a:xfrm>
            <a:off x="10451520" y="493776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srv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2" name="Rectangle 34"/>
          <p:cNvSpPr/>
          <p:nvPr/>
        </p:nvSpPr>
        <p:spPr>
          <a:xfrm>
            <a:off x="914400" y="541332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13" name="TextBox 35"/>
          <p:cNvSpPr/>
          <p:nvPr/>
        </p:nvSpPr>
        <p:spPr>
          <a:xfrm>
            <a:off x="1051560" y="552312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/robot/pause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4" name="TextBox 36"/>
          <p:cNvSpPr/>
          <p:nvPr/>
        </p:nvSpPr>
        <p:spPr>
          <a:xfrm>
            <a:off x="4572000" y="552312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로봇 일시정지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/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재개 서비스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5" name="Rectangle 37"/>
          <p:cNvSpPr/>
          <p:nvPr/>
        </p:nvSpPr>
        <p:spPr>
          <a:xfrm>
            <a:off x="10451520" y="550476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16" name="TextBox 38"/>
          <p:cNvSpPr/>
          <p:nvPr/>
        </p:nvSpPr>
        <p:spPr>
          <a:xfrm>
            <a:off x="10451520" y="550476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srv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7" name="Rectangle 39"/>
          <p:cNvSpPr/>
          <p:nvPr/>
        </p:nvSpPr>
        <p:spPr>
          <a:xfrm>
            <a:off x="914400" y="5980320"/>
            <a:ext cx="10359720" cy="493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18" name="TextBox 40"/>
          <p:cNvSpPr/>
          <p:nvPr/>
        </p:nvSpPr>
        <p:spPr>
          <a:xfrm>
            <a:off x="1051560" y="608976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/robot/force_detected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9" name="TextBox 41"/>
          <p:cNvSpPr/>
          <p:nvPr/>
        </p:nvSpPr>
        <p:spPr>
          <a:xfrm>
            <a:off x="4572000" y="608976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외력 감지 토픽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0" name="Rectangle 42"/>
          <p:cNvSpPr/>
          <p:nvPr/>
        </p:nvSpPr>
        <p:spPr>
          <a:xfrm>
            <a:off x="10451520" y="6071760"/>
            <a:ext cx="749520" cy="273960"/>
          </a:xfrm>
          <a:prstGeom prst="rect">
            <a:avLst/>
          </a:prstGeom>
          <a:solidFill>
            <a:srgbClr val="1c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21" name="TextBox 43"/>
          <p:cNvSpPr/>
          <p:nvPr/>
        </p:nvSpPr>
        <p:spPr>
          <a:xfrm>
            <a:off x="10451520" y="6071760"/>
            <a:ext cx="749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7b72"/>
                </a:solidFill>
                <a:latin typeface="Calibri"/>
              </a:rPr>
              <a:t>topic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2" name="TextBox 4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3" name="TextBox 4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10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25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workflow · scenario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전체 동작 시나리오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327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8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사용자가 이미지 업로드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9" name="Oval 6"/>
          <p:cNvSpPr/>
          <p:nvPr/>
        </p:nvSpPr>
        <p:spPr>
          <a:xfrm>
            <a:off x="914400" y="26701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0" name="TextBox 7"/>
          <p:cNvSpPr/>
          <p:nvPr/>
        </p:nvSpPr>
        <p:spPr>
          <a:xfrm>
            <a:off x="1261800" y="26334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필요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ROI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선택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1" name="Oval 8"/>
          <p:cNvSpPr/>
          <p:nvPr/>
        </p:nvSpPr>
        <p:spPr>
          <a:xfrm>
            <a:off x="914400" y="32918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2" name="TextBox 9"/>
          <p:cNvSpPr/>
          <p:nvPr/>
        </p:nvSpPr>
        <p:spPr>
          <a:xfrm>
            <a:off x="1261800" y="3255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ImageProcessorNode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가 색상 격자 생성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3" name="Oval 10"/>
          <p:cNvSpPr/>
          <p:nvPr/>
        </p:nvSpPr>
        <p:spPr>
          <a:xfrm>
            <a:off x="914400" y="39135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4" name="TextBox 11"/>
          <p:cNvSpPr/>
          <p:nvPr/>
        </p:nvSpPr>
        <p:spPr>
          <a:xfrm>
            <a:off x="1261800" y="38772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사용자가 색상 격자 수정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5" name="Oval 12"/>
          <p:cNvSpPr/>
          <p:nvPr/>
        </p:nvSpPr>
        <p:spPr>
          <a:xfrm>
            <a:off x="914400" y="45352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6" name="TextBox 13"/>
          <p:cNvSpPr/>
          <p:nvPr/>
        </p:nvSpPr>
        <p:spPr>
          <a:xfrm>
            <a:off x="1261800" y="44989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SequencerNode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가 블록 단위로 분할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7" name="Oval 14"/>
          <p:cNvSpPr/>
          <p:nvPr/>
        </p:nvSpPr>
        <p:spPr>
          <a:xfrm>
            <a:off x="914400" y="5157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8" name="TextBox 15"/>
          <p:cNvSpPr/>
          <p:nvPr/>
        </p:nvSpPr>
        <p:spPr>
          <a:xfrm>
            <a:off x="1261800" y="5120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BridgeNode → RobotControllerNode action goal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9" name="Oval 16"/>
          <p:cNvSpPr/>
          <p:nvPr/>
        </p:nvSpPr>
        <p:spPr>
          <a:xfrm>
            <a:off x="62316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0" name="TextBox 17"/>
          <p:cNvSpPr/>
          <p:nvPr/>
        </p:nvSpPr>
        <p:spPr>
          <a:xfrm>
            <a:off x="65790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로봇이 블록을 집고 배치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1" name="Oval 18"/>
          <p:cNvSpPr/>
          <p:nvPr/>
        </p:nvSpPr>
        <p:spPr>
          <a:xfrm>
            <a:off x="6231600" y="26701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2" name="TextBox 19"/>
          <p:cNvSpPr/>
          <p:nvPr/>
        </p:nvSpPr>
        <p:spPr>
          <a:xfrm>
            <a:off x="6579000" y="26334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웹캠이 집기 전 블록 존재 확인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3" name="Oval 20"/>
          <p:cNvSpPr/>
          <p:nvPr/>
        </p:nvSpPr>
        <p:spPr>
          <a:xfrm>
            <a:off x="6231600" y="32918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4" name="TextBox 21"/>
          <p:cNvSpPr/>
          <p:nvPr/>
        </p:nvSpPr>
        <p:spPr>
          <a:xfrm>
            <a:off x="6579000" y="3255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전면 카메라가 배치 결과 검증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5" name="Oval 22"/>
          <p:cNvSpPr/>
          <p:nvPr/>
        </p:nvSpPr>
        <p:spPr>
          <a:xfrm>
            <a:off x="6231600" y="39135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6" name="TextBox 23"/>
          <p:cNvSpPr/>
          <p:nvPr/>
        </p:nvSpPr>
        <p:spPr>
          <a:xfrm>
            <a:off x="6579000" y="38772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외력 감지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pause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7" name="Oval 24"/>
          <p:cNvSpPr/>
          <p:nvPr/>
        </p:nvSpPr>
        <p:spPr>
          <a:xfrm>
            <a:off x="6231600" y="45352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8" name="TextBox 25"/>
          <p:cNvSpPr/>
          <p:nvPr/>
        </p:nvSpPr>
        <p:spPr>
          <a:xfrm>
            <a:off x="6579000" y="44989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조립 완료 후 역순 해체 및 폐기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9" name="TextBox 2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0" name="TextBox 2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11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52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vision · image-analysis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3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이미지 분석 기능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354" name="Rectangle 4"/>
          <p:cNvSpPr/>
          <p:nvPr/>
        </p:nvSpPr>
        <p:spPr>
          <a:xfrm>
            <a:off x="914400" y="2011680"/>
            <a:ext cx="5042520" cy="14626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55" name="Rectangle 5"/>
          <p:cNvSpPr/>
          <p:nvPr/>
        </p:nvSpPr>
        <p:spPr>
          <a:xfrm>
            <a:off x="9144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56" name="TextBox 6"/>
          <p:cNvSpPr/>
          <p:nvPr/>
        </p:nvSpPr>
        <p:spPr>
          <a:xfrm>
            <a:off x="1097280" y="221292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입력 처리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57" name="TextBox 7"/>
          <p:cNvSpPr/>
          <p:nvPr/>
        </p:nvSpPr>
        <p:spPr>
          <a:xfrm>
            <a:off x="1097280" y="254196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입력 이미지를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OpenCV BGR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이미지로 변환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사용자가 지정한 행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/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열 크기 적용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8" name="Rectangle 8"/>
          <p:cNvSpPr/>
          <p:nvPr/>
        </p:nvSpPr>
        <p:spPr>
          <a:xfrm>
            <a:off x="914400" y="3584520"/>
            <a:ext cx="5042520" cy="16455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59" name="Rectangle 9"/>
          <p:cNvSpPr/>
          <p:nvPr/>
        </p:nvSpPr>
        <p:spPr>
          <a:xfrm>
            <a:off x="914400" y="358452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60" name="TextBox 10"/>
          <p:cNvSpPr/>
          <p:nvPr/>
        </p:nvSpPr>
        <p:spPr>
          <a:xfrm>
            <a:off x="1097280" y="378576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79c0ff"/>
                </a:solidFill>
                <a:latin typeface="Calibri"/>
              </a:rPr>
              <a:t>기본 격자 설정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1097280" y="4114800"/>
            <a:ext cx="47682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기본값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: 8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행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× 16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열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cell width: 15.9 mm  /  cell height: 19.0 mm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실제 블록 비율 반영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2" name="Rectangle 12"/>
          <p:cNvSpPr/>
          <p:nvPr/>
        </p:nvSpPr>
        <p:spPr>
          <a:xfrm>
            <a:off x="6231600" y="2011680"/>
            <a:ext cx="5042520" cy="321840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63" name="Rectangle 13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64" name="TextBox 14"/>
          <p:cNvSpPr/>
          <p:nvPr/>
        </p:nvSpPr>
        <p:spPr>
          <a:xfrm>
            <a:off x="6414480" y="221292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d2a8ff"/>
                </a:solidFill>
                <a:latin typeface="Calibri"/>
              </a:rPr>
              <a:t>출력 결과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5" name="TextBox 15"/>
          <p:cNvSpPr/>
          <p:nvPr/>
        </p:nvSpPr>
        <p:spPr>
          <a:xfrm>
            <a:off x="6414480" y="257868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▸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fitted image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6" name="TextBox 16"/>
          <p:cNvSpPr/>
          <p:nvPr/>
        </p:nvSpPr>
        <p:spPr>
          <a:xfrm>
            <a:off x="6414480" y="28530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비율 맞춘 이미지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67" name="TextBox 17"/>
          <p:cNvSpPr/>
          <p:nvPr/>
        </p:nvSpPr>
        <p:spPr>
          <a:xfrm>
            <a:off x="6414480" y="32371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▸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overlay image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8" name="TextBox 18"/>
          <p:cNvSpPr/>
          <p:nvPr/>
        </p:nvSpPr>
        <p:spPr>
          <a:xfrm>
            <a:off x="6414480" y="351144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격자 오버레이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69" name="TextBox 19"/>
          <p:cNvSpPr/>
          <p:nvPr/>
        </p:nvSpPr>
        <p:spPr>
          <a:xfrm>
            <a:off x="6414480" y="389520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▸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mosaic image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0" name="TextBox 20"/>
          <p:cNvSpPr/>
          <p:nvPr/>
        </p:nvSpPr>
        <p:spPr>
          <a:xfrm>
            <a:off x="6414480" y="41695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색상별 블록 시각화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1" name="TextBox 21"/>
          <p:cNvSpPr/>
          <p:nvPr/>
        </p:nvSpPr>
        <p:spPr>
          <a:xfrm>
            <a:off x="6414480" y="455364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▸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colors </a:t>
            </a:r>
            <a:r>
              <a:rPr b="1" lang="zh-CN" sz="1200" spc="-1" strike="noStrike">
                <a:solidFill>
                  <a:srgbClr val="ffffff"/>
                </a:solidFill>
                <a:latin typeface="Calibri"/>
              </a:rPr>
              <a:t>배열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2" name="TextBox 22"/>
          <p:cNvSpPr/>
          <p:nvPr/>
        </p:nvSpPr>
        <p:spPr>
          <a:xfrm>
            <a:off x="6414480" y="482796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격자 색상 데이터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3" name="TextBox 23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4" name="TextBox 24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12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7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vision · problems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이미지 분석에서 예상된 문제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378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79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80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업로드 이미지마다 비율이 다름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1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→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정규화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크롭 방식이 필요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2" name="Rectangle 8"/>
          <p:cNvSpPr/>
          <p:nvPr/>
        </p:nvSpPr>
        <p:spPr>
          <a:xfrm>
            <a:off x="914400" y="26974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83" name="Rectangle 9"/>
          <p:cNvSpPr/>
          <p:nvPr/>
        </p:nvSpPr>
        <p:spPr>
          <a:xfrm>
            <a:off x="914400" y="26974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84" name="TextBox 10"/>
          <p:cNvSpPr/>
          <p:nvPr/>
        </p:nvSpPr>
        <p:spPr>
          <a:xfrm>
            <a:off x="1078920" y="27522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배경과 블록 색상이 섞임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5" name="TextBox 11"/>
          <p:cNvSpPr/>
          <p:nvPr/>
        </p:nvSpPr>
        <p:spPr>
          <a:xfrm>
            <a:off x="1078920" y="29534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→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색상 분리가 어려움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6" name="Rectangle 12"/>
          <p:cNvSpPr/>
          <p:nvPr/>
        </p:nvSpPr>
        <p:spPr>
          <a:xfrm>
            <a:off x="914400" y="33832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87" name="Rectangle 13"/>
          <p:cNvSpPr/>
          <p:nvPr/>
        </p:nvSpPr>
        <p:spPr>
          <a:xfrm>
            <a:off x="914400" y="33832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88" name="TextBox 14"/>
          <p:cNvSpPr/>
          <p:nvPr/>
        </p:nvSpPr>
        <p:spPr>
          <a:xfrm>
            <a:off x="1078920" y="34380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조명과 그림자 영향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9" name="TextBox 15"/>
          <p:cNvSpPr/>
          <p:nvPr/>
        </p:nvSpPr>
        <p:spPr>
          <a:xfrm>
            <a:off x="1078920" y="36392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→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동일 색상도 다르게 인식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0" name="Rectangle 16"/>
          <p:cNvSpPr/>
          <p:nvPr/>
        </p:nvSpPr>
        <p:spPr>
          <a:xfrm>
            <a:off x="914400" y="40690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91" name="Rectangle 17"/>
          <p:cNvSpPr/>
          <p:nvPr/>
        </p:nvSpPr>
        <p:spPr>
          <a:xfrm>
            <a:off x="914400" y="40690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92" name="TextBox 18"/>
          <p:cNvSpPr/>
          <p:nvPr/>
        </p:nvSpPr>
        <p:spPr>
          <a:xfrm>
            <a:off x="1078920" y="41238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빈 칸이 색상으로 오인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3" name="TextBox 19"/>
          <p:cNvSpPr/>
          <p:nvPr/>
        </p:nvSpPr>
        <p:spPr>
          <a:xfrm>
            <a:off x="1078920" y="43250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→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잘못된 블록 후보 생성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4" name="Rectangle 20"/>
          <p:cNvSpPr/>
          <p:nvPr/>
        </p:nvSpPr>
        <p:spPr>
          <a:xfrm>
            <a:off x="914400" y="47548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95" name="Rectangle 21"/>
          <p:cNvSpPr/>
          <p:nvPr/>
        </p:nvSpPr>
        <p:spPr>
          <a:xfrm>
            <a:off x="914400" y="47548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96" name="TextBox 22"/>
          <p:cNvSpPr/>
          <p:nvPr/>
        </p:nvSpPr>
        <p:spPr>
          <a:xfrm>
            <a:off x="1078920" y="48096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한 칸짜리 노이즈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7" name="TextBox 23"/>
          <p:cNvSpPr/>
          <p:nvPr/>
        </p:nvSpPr>
        <p:spPr>
          <a:xfrm>
            <a:off x="1078920" y="50108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→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집을 수 없는 블록 후보 남음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8" name="Rectangle 24"/>
          <p:cNvSpPr/>
          <p:nvPr/>
        </p:nvSpPr>
        <p:spPr>
          <a:xfrm>
            <a:off x="914400" y="54406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399" name="Rectangle 25"/>
          <p:cNvSpPr/>
          <p:nvPr/>
        </p:nvSpPr>
        <p:spPr>
          <a:xfrm>
            <a:off x="914400" y="54406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00" name="TextBox 26"/>
          <p:cNvSpPr/>
          <p:nvPr/>
        </p:nvSpPr>
        <p:spPr>
          <a:xfrm>
            <a:off x="1078920" y="5495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단순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RGB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평균값으로는 색상 분류 불안정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1" name="TextBox 27"/>
          <p:cNvSpPr/>
          <p:nvPr/>
        </p:nvSpPr>
        <p:spPr>
          <a:xfrm>
            <a:off x="1078920" y="5696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→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더 강건한 방법 필요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2" name="TextBox 28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3" name="TextBox 29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13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05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vision · solutions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6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이미지 분석 해결 방식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07" name="Rectangle 4"/>
          <p:cNvSpPr/>
          <p:nvPr/>
        </p:nvSpPr>
        <p:spPr>
          <a:xfrm>
            <a:off x="914400" y="2011680"/>
            <a:ext cx="5042520" cy="155412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08" name="Rectangle 5"/>
          <p:cNvSpPr/>
          <p:nvPr/>
        </p:nvSpPr>
        <p:spPr>
          <a:xfrm>
            <a:off x="914400" y="2011680"/>
            <a:ext cx="50400" cy="155412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09" name="TextBox 6"/>
          <p:cNvSpPr/>
          <p:nvPr/>
        </p:nvSpPr>
        <p:spPr>
          <a:xfrm>
            <a:off x="1097280" y="217620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7ee787"/>
                </a:solidFill>
                <a:latin typeface="Noto Color Emoji"/>
              </a:rPr>
              <a:t>📐</a:t>
            </a:r>
            <a:r>
              <a:rPr b="1" lang="en-US" sz="13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en-US" sz="1300" spc="-1" strike="noStrike">
                <a:solidFill>
                  <a:srgbClr val="7ee787"/>
                </a:solidFill>
                <a:latin typeface="Calibri"/>
              </a:rPr>
              <a:t>fit_image </a:t>
            </a: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모드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10" name="TextBox 7"/>
          <p:cNvSpPr/>
          <p:nvPr/>
        </p:nvSpPr>
        <p:spPr>
          <a:xfrm>
            <a:off x="1097280" y="257868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center crop  ·  smart crop  ·  none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모드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1" name="Rectangle 8"/>
          <p:cNvSpPr/>
          <p:nvPr/>
        </p:nvSpPr>
        <p:spPr>
          <a:xfrm>
            <a:off x="6231600" y="2011680"/>
            <a:ext cx="5042520" cy="155412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12" name="Rectangle 9"/>
          <p:cNvSpPr/>
          <p:nvPr/>
        </p:nvSpPr>
        <p:spPr>
          <a:xfrm>
            <a:off x="6231600" y="2011680"/>
            <a:ext cx="50400" cy="155412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13" name="TextBox 10"/>
          <p:cNvSpPr/>
          <p:nvPr/>
        </p:nvSpPr>
        <p:spPr>
          <a:xfrm>
            <a:off x="6414480" y="217620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7ee787"/>
                </a:solidFill>
                <a:latin typeface="Noto Color Emoji"/>
              </a:rPr>
              <a:t>🎨</a:t>
            </a:r>
            <a:r>
              <a:rPr b="1" lang="en-US" sz="13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색상 마스킹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14" name="TextBox 11"/>
          <p:cNvSpPr/>
          <p:nvPr/>
        </p:nvSpPr>
        <p:spPr>
          <a:xfrm>
            <a:off x="6414480" y="257868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HSV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색상 마스크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·  LAB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색공간 거리 기반 보조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5" name="Rectangle 12"/>
          <p:cNvSpPr/>
          <p:nvPr/>
        </p:nvSpPr>
        <p:spPr>
          <a:xfrm>
            <a:off x="914400" y="3703320"/>
            <a:ext cx="5042520" cy="155412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16" name="Rectangle 13"/>
          <p:cNvSpPr/>
          <p:nvPr/>
        </p:nvSpPr>
        <p:spPr>
          <a:xfrm>
            <a:off x="914400" y="3703320"/>
            <a:ext cx="50400" cy="155412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17" name="TextBox 14"/>
          <p:cNvSpPr/>
          <p:nvPr/>
        </p:nvSpPr>
        <p:spPr>
          <a:xfrm>
            <a:off x="1097280" y="386784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7ee787"/>
                </a:solidFill>
                <a:latin typeface="Noto Color Emoji"/>
              </a:rPr>
              <a:t>🔬</a:t>
            </a:r>
            <a:r>
              <a:rPr b="1" lang="en-US" sz="13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노이즈 제거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18" name="TextBox 15"/>
          <p:cNvSpPr/>
          <p:nvPr/>
        </p:nvSpPr>
        <p:spPr>
          <a:xfrm>
            <a:off x="1097280" y="42703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morphology open/close  ·  connected component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면적 기준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9" name="Rectangle 16"/>
          <p:cNvSpPr/>
          <p:nvPr/>
        </p:nvSpPr>
        <p:spPr>
          <a:xfrm>
            <a:off x="6231600" y="3703320"/>
            <a:ext cx="5042520" cy="155412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0" name="Rectangle 17"/>
          <p:cNvSpPr/>
          <p:nvPr/>
        </p:nvSpPr>
        <p:spPr>
          <a:xfrm>
            <a:off x="6231600" y="3703320"/>
            <a:ext cx="50400" cy="155412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1" name="TextBox 18"/>
          <p:cNvSpPr/>
          <p:nvPr/>
        </p:nvSpPr>
        <p:spPr>
          <a:xfrm>
            <a:off x="6414480" y="386784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7ee787"/>
                </a:solidFill>
                <a:latin typeface="Noto Color Emoji"/>
              </a:rPr>
              <a:t>✂️</a:t>
            </a:r>
            <a:r>
              <a:rPr b="1" lang="en-US" sz="13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후처리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2" name="TextBox 19"/>
          <p:cNvSpPr/>
          <p:nvPr/>
        </p:nvSpPr>
        <p:spPr>
          <a:xfrm>
            <a:off x="6414480" y="42703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작은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hole/island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제거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·  single-cell run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제거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3" name="TextBox 20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24" name="TextBox 21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14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design · decision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왜 전통 비전 방식을 선택했는가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28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29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0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딥러닝 모델 학습 비용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1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데이터 수집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라벨링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학습 시간이 짧은 프로젝트 기간에 맞지 않음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2" name="Rectangle 8"/>
          <p:cNvSpPr/>
          <p:nvPr/>
        </p:nvSpPr>
        <p:spPr>
          <a:xfrm>
            <a:off x="914400" y="276156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3" name="Rectangle 9"/>
          <p:cNvSpPr/>
          <p:nvPr/>
        </p:nvSpPr>
        <p:spPr>
          <a:xfrm>
            <a:off x="914400" y="276156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4" name="TextBox 10"/>
          <p:cNvSpPr/>
          <p:nvPr/>
        </p:nvSpPr>
        <p:spPr>
          <a:xfrm>
            <a:off x="1078920" y="28162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제한된 색상 도메인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5" name="TextBox 11"/>
          <p:cNvSpPr/>
          <p:nvPr/>
        </p:nvSpPr>
        <p:spPr>
          <a:xfrm>
            <a:off x="1078920" y="30175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red, blue, green, yellow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로만 구성 → 규칙 기반으로 충분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6" name="Rectangle 12"/>
          <p:cNvSpPr/>
          <p:nvPr/>
        </p:nvSpPr>
        <p:spPr>
          <a:xfrm>
            <a:off x="914400" y="351144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7" name="Rectangle 13"/>
          <p:cNvSpPr/>
          <p:nvPr/>
        </p:nvSpPr>
        <p:spPr>
          <a:xfrm>
            <a:off x="914400" y="351144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38" name="TextBox 14"/>
          <p:cNvSpPr/>
          <p:nvPr/>
        </p:nvSpPr>
        <p:spPr>
          <a:xfrm>
            <a:off x="1078920" y="356616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명시적 파라미터 — 현장 튜닝 용이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9" name="TextBox 15"/>
          <p:cNvSpPr/>
          <p:nvPr/>
        </p:nvSpPr>
        <p:spPr>
          <a:xfrm>
            <a:off x="1078920" y="37674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threshold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값을 직접 조정해 즉각 반영 가능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40" name="Rectangle 16"/>
          <p:cNvSpPr/>
          <p:nvPr/>
        </p:nvSpPr>
        <p:spPr>
          <a:xfrm>
            <a:off x="914400" y="426096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1" name="Rectangle 17"/>
          <p:cNvSpPr/>
          <p:nvPr/>
        </p:nvSpPr>
        <p:spPr>
          <a:xfrm>
            <a:off x="914400" y="426096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2" name="TextBox 18"/>
          <p:cNvSpPr/>
          <p:nvPr/>
        </p:nvSpPr>
        <p:spPr>
          <a:xfrm>
            <a:off x="1078920" y="43160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디버그 이미지로 실패 원인 파악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3" name="TextBox 19"/>
          <p:cNvSpPr/>
          <p:nvPr/>
        </p:nvSpPr>
        <p:spPr>
          <a:xfrm>
            <a:off x="1078920" y="45172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overlay / raw / result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이미지로 어디서 실패했는지 즉시 확인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44" name="Rectangle 20"/>
          <p:cNvSpPr/>
          <p:nvPr/>
        </p:nvSpPr>
        <p:spPr>
          <a:xfrm>
            <a:off x="914400" y="501084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5" name="Rectangle 21"/>
          <p:cNvSpPr/>
          <p:nvPr/>
        </p:nvSpPr>
        <p:spPr>
          <a:xfrm>
            <a:off x="914400" y="501084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46" name="TextBox 22"/>
          <p:cNvSpPr/>
          <p:nvPr/>
        </p:nvSpPr>
        <p:spPr>
          <a:xfrm>
            <a:off x="1078920" y="5065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데모 재현성과 설명력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7" name="TextBox 23"/>
          <p:cNvSpPr/>
          <p:nvPr/>
        </p:nvSpPr>
        <p:spPr>
          <a:xfrm>
            <a:off x="1078920" y="52668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발표 자리에서 동작 원리를 명확하게 설명 가능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48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49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15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5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vision · post-processing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5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색상 격자 후처리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53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4" name="TextBox 5"/>
          <p:cNvSpPr/>
          <p:nvPr/>
        </p:nvSpPr>
        <p:spPr>
          <a:xfrm>
            <a:off x="1261800" y="201168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짧은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horizontal gap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보정 — 끊긴 색상 구간을 연결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5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6" name="TextBox 7"/>
          <p:cNvSpPr/>
          <p:nvPr/>
        </p:nvSpPr>
        <p:spPr>
          <a:xfrm>
            <a:off x="1261800" y="26701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작은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background hole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채우기 — 배경 안에 섞인 잡음 제거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7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8" name="TextBox 9"/>
          <p:cNvSpPr/>
          <p:nvPr/>
        </p:nvSpPr>
        <p:spPr>
          <a:xfrm>
            <a:off x="1261800" y="332856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작은 색상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island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제거 — 고립된 작은 색상 영역 삭제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9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0" name="TextBox 11"/>
          <p:cNvSpPr/>
          <p:nvPr/>
        </p:nvSpPr>
        <p:spPr>
          <a:xfrm>
            <a:off x="1261800" y="398664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한 칸짜리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run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제거 — 실제 블록은 최소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2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칸 이상이므로 적극 제거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61" name="Rectangle 12"/>
          <p:cNvSpPr/>
          <p:nvPr/>
        </p:nvSpPr>
        <p:spPr>
          <a:xfrm>
            <a:off x="914400" y="4754880"/>
            <a:ext cx="10359720" cy="822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62" name="Rectangle 13"/>
          <p:cNvSpPr/>
          <p:nvPr/>
        </p:nvSpPr>
        <p:spPr>
          <a:xfrm>
            <a:off x="914400" y="4754880"/>
            <a:ext cx="103597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63" name="TextBox 14"/>
          <p:cNvSpPr/>
          <p:nvPr/>
        </p:nvSpPr>
        <p:spPr>
          <a:xfrm>
            <a:off x="1097280" y="4919400"/>
            <a:ext cx="914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ee787"/>
                </a:solidFill>
                <a:latin typeface="Calibri"/>
              </a:rPr>
              <a:t>결과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64" name="TextBox 15"/>
          <p:cNvSpPr/>
          <p:nvPr/>
        </p:nvSpPr>
        <p:spPr>
          <a:xfrm>
            <a:off x="1097280" y="5166360"/>
            <a:ext cx="999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로봇이 집을 수 없는 잘못된 블록 후보를 사전에 제거해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이후 시퀀싱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조립 단계의 안정성을 높임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65" name="TextBox 1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6" name="TextBox 1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16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68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ui · grid-editor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69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사용자 수정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UI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70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1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이미지 분석 결과를 사용자가 직접 확인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2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3" name="TextBox 7"/>
          <p:cNvSpPr/>
          <p:nvPr/>
        </p:nvSpPr>
        <p:spPr>
          <a:xfrm>
            <a:off x="1261800" y="2670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색상 팔레트에서 색상 선택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4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5" name="TextBox 9"/>
          <p:cNvSpPr/>
          <p:nvPr/>
        </p:nvSpPr>
        <p:spPr>
          <a:xfrm>
            <a:off x="1261800" y="332856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격자 클릭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드래그로 칸 수정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6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7" name="TextBox 11"/>
          <p:cNvSpPr/>
          <p:nvPr/>
        </p:nvSpPr>
        <p:spPr>
          <a:xfrm>
            <a:off x="1261800" y="3986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우클릭 또는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erase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빈 칸 처리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8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9" name="TextBox 13"/>
          <p:cNvSpPr/>
          <p:nvPr/>
        </p:nvSpPr>
        <p:spPr>
          <a:xfrm>
            <a:off x="1261800" y="46450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수정 후 다시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sequence plan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요청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0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1" name="TextBox 15"/>
          <p:cNvSpPr/>
          <p:nvPr/>
        </p:nvSpPr>
        <p:spPr>
          <a:xfrm>
            <a:off x="1261800" y="53035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블록 분할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preview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제공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2" name="Rectangle 16"/>
          <p:cNvSpPr/>
          <p:nvPr/>
        </p:nvSpPr>
        <p:spPr>
          <a:xfrm>
            <a:off x="6231600" y="2011680"/>
            <a:ext cx="5042520" cy="25599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3" name="Rectangle 17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4" name="TextBox 18"/>
          <p:cNvSpPr/>
          <p:nvPr/>
        </p:nvSpPr>
        <p:spPr>
          <a:xfrm>
            <a:off x="6414480" y="221292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색상 팔레트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5" name="Rectangle 19"/>
          <p:cNvSpPr/>
          <p:nvPr/>
        </p:nvSpPr>
        <p:spPr>
          <a:xfrm>
            <a:off x="6414480" y="2651760"/>
            <a:ext cx="456840" cy="45684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6" name="TextBox 20"/>
          <p:cNvSpPr/>
          <p:nvPr/>
        </p:nvSpPr>
        <p:spPr>
          <a:xfrm>
            <a:off x="6414480" y="3163680"/>
            <a:ext cx="502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900" spc="-1" strike="noStrike">
                <a:solidFill>
                  <a:srgbClr val="8b949e"/>
                </a:solidFill>
                <a:latin typeface="Calibri"/>
              </a:rPr>
              <a:t>빨강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7" name="Rectangle 21"/>
          <p:cNvSpPr/>
          <p:nvPr/>
        </p:nvSpPr>
        <p:spPr>
          <a:xfrm>
            <a:off x="7054560" y="2651760"/>
            <a:ext cx="456840" cy="456840"/>
          </a:xfrm>
          <a:prstGeom prst="rect">
            <a:avLst/>
          </a:prstGeom>
          <a:solidFill>
            <a:srgbClr val="3498d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8" name="TextBox 22"/>
          <p:cNvSpPr/>
          <p:nvPr/>
        </p:nvSpPr>
        <p:spPr>
          <a:xfrm>
            <a:off x="7054560" y="3163680"/>
            <a:ext cx="502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900" spc="-1" strike="noStrike">
                <a:solidFill>
                  <a:srgbClr val="8b949e"/>
                </a:solidFill>
                <a:latin typeface="Calibri"/>
              </a:rPr>
              <a:t>파랑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9" name="Rectangle 23"/>
          <p:cNvSpPr/>
          <p:nvPr/>
        </p:nvSpPr>
        <p:spPr>
          <a:xfrm>
            <a:off x="7694640" y="2651760"/>
            <a:ext cx="456840" cy="456840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90" name="TextBox 24"/>
          <p:cNvSpPr/>
          <p:nvPr/>
        </p:nvSpPr>
        <p:spPr>
          <a:xfrm>
            <a:off x="7694640" y="3163680"/>
            <a:ext cx="502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900" spc="-1" strike="noStrike">
                <a:solidFill>
                  <a:srgbClr val="8b949e"/>
                </a:solidFill>
                <a:latin typeface="Calibri"/>
              </a:rPr>
              <a:t>초록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1" name="Rectangle 25"/>
          <p:cNvSpPr/>
          <p:nvPr/>
        </p:nvSpPr>
        <p:spPr>
          <a:xfrm>
            <a:off x="8334720" y="2651760"/>
            <a:ext cx="456840" cy="456840"/>
          </a:xfrm>
          <a:prstGeom prst="rect">
            <a:avLst/>
          </a:prstGeom>
          <a:solidFill>
            <a:srgbClr val="f1c4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92" name="TextBox 26"/>
          <p:cNvSpPr/>
          <p:nvPr/>
        </p:nvSpPr>
        <p:spPr>
          <a:xfrm>
            <a:off x="8334720" y="3163680"/>
            <a:ext cx="502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900" spc="-1" strike="noStrike">
                <a:solidFill>
                  <a:srgbClr val="8b949e"/>
                </a:solidFill>
                <a:latin typeface="Calibri"/>
              </a:rPr>
              <a:t>노랑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3" name="TextBox 27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4" name="TextBox 28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17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9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design · decision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왜 사용자 수정 기능을 넣었는가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98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99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0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비전 정확도 </a:t>
            </a: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100% </a:t>
            </a: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달성이 어려움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1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조명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배경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카메라 조건이 매번 달라지기 때문에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2" name="Rectangle 8"/>
          <p:cNvSpPr/>
          <p:nvPr/>
        </p:nvSpPr>
        <p:spPr>
          <a:xfrm>
            <a:off x="914400" y="276156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3" name="Rectangle 9"/>
          <p:cNvSpPr/>
          <p:nvPr/>
        </p:nvSpPr>
        <p:spPr>
          <a:xfrm>
            <a:off x="914400" y="276156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4" name="TextBox 10"/>
          <p:cNvSpPr/>
          <p:nvPr/>
        </p:nvSpPr>
        <p:spPr>
          <a:xfrm>
            <a:off x="1078920" y="28162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구현 대비 안정성 향상 효과가 큼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5" name="TextBox 11"/>
          <p:cNvSpPr/>
          <p:nvPr/>
        </p:nvSpPr>
        <p:spPr>
          <a:xfrm>
            <a:off x="1078920" y="30175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비전 실패를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UI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에서 수작업으로 빠르게 보완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6" name="Rectangle 12"/>
          <p:cNvSpPr/>
          <p:nvPr/>
        </p:nvSpPr>
        <p:spPr>
          <a:xfrm>
            <a:off x="914400" y="351144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7" name="Rectangle 13"/>
          <p:cNvSpPr/>
          <p:nvPr/>
        </p:nvSpPr>
        <p:spPr>
          <a:xfrm>
            <a:off x="914400" y="351144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08" name="TextBox 14"/>
          <p:cNvSpPr/>
          <p:nvPr/>
        </p:nvSpPr>
        <p:spPr>
          <a:xfrm>
            <a:off x="1078920" y="356616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데모 실패 방지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9" name="TextBox 15"/>
          <p:cNvSpPr/>
          <p:nvPr/>
        </p:nvSpPr>
        <p:spPr>
          <a:xfrm>
            <a:off x="1078920" y="37674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비전 오류가 전체 시스템 실패로 이어지지 않음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0" name="Rectangle 16"/>
          <p:cNvSpPr/>
          <p:nvPr/>
        </p:nvSpPr>
        <p:spPr>
          <a:xfrm>
            <a:off x="914400" y="426096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1" name="Rectangle 17"/>
          <p:cNvSpPr/>
          <p:nvPr/>
        </p:nvSpPr>
        <p:spPr>
          <a:xfrm>
            <a:off x="914400" y="426096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2" name="TextBox 18"/>
          <p:cNvSpPr/>
          <p:nvPr/>
        </p:nvSpPr>
        <p:spPr>
          <a:xfrm>
            <a:off x="1078920" y="43160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사용자 최종 확인 권한 제공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3" name="TextBox 19"/>
          <p:cNvSpPr/>
          <p:nvPr/>
        </p:nvSpPr>
        <p:spPr>
          <a:xfrm>
            <a:off x="1078920" y="45172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조립 전 설계도를 검토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수정하는 단계 추가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4" name="Rectangle 20"/>
          <p:cNvSpPr/>
          <p:nvPr/>
        </p:nvSpPr>
        <p:spPr>
          <a:xfrm>
            <a:off x="914400" y="501084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5" name="Rectangle 21"/>
          <p:cNvSpPr/>
          <p:nvPr/>
        </p:nvSpPr>
        <p:spPr>
          <a:xfrm>
            <a:off x="914400" y="501084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6" name="TextBox 22"/>
          <p:cNvSpPr/>
          <p:nvPr/>
        </p:nvSpPr>
        <p:spPr>
          <a:xfrm>
            <a:off x="1078920" y="5065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Human-in-the-loop </a:t>
            </a: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자동화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7" name="TextBox 23"/>
          <p:cNvSpPr/>
          <p:nvPr/>
        </p:nvSpPr>
        <p:spPr>
          <a:xfrm>
            <a:off x="1078920" y="52668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완전 자동화와 수동 제어의 실용적 균형점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8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9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18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sequencer · problem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블록 분할 문제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23" name="TextBox 4"/>
          <p:cNvSpPr/>
          <p:nvPr/>
        </p:nvSpPr>
        <p:spPr>
          <a:xfrm>
            <a:off x="914400" y="2011680"/>
            <a:ext cx="50425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400" spc="-1" strike="noStrike">
                <a:solidFill>
                  <a:srgbClr val="8b949e"/>
                </a:solidFill>
                <a:latin typeface="Calibri"/>
              </a:rPr>
              <a:t>이미지 분석 결과는 셀 단위 색상 배열이지만</a:t>
            </a:r>
            <a:r>
              <a:rPr b="0" lang="en-US" sz="1400" spc="-1" strike="noStrike">
                <a:solidFill>
                  <a:srgbClr val="8b949e"/>
                </a:solidFill>
                <a:latin typeface="Calibri"/>
              </a:rPr>
              <a:t>,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400" spc="-1" strike="noStrike">
                <a:solidFill>
                  <a:srgbClr val="8b949e"/>
                </a:solidFill>
                <a:latin typeface="Calibri"/>
              </a:rPr>
              <a:t>실제 로봇은 </a:t>
            </a:r>
            <a:r>
              <a:rPr b="0" lang="en-US" sz="1400" spc="-1" strike="noStrike">
                <a:solidFill>
                  <a:srgbClr val="8b949e"/>
                </a:solidFill>
                <a:latin typeface="Calibri"/>
              </a:rPr>
              <a:t>2</a:t>
            </a:r>
            <a:r>
              <a:rPr b="0" lang="zh-CN" sz="1400" spc="-1" strike="noStrike">
                <a:solidFill>
                  <a:srgbClr val="8b949e"/>
                </a:solidFill>
                <a:latin typeface="Calibri"/>
              </a:rPr>
              <a:t>칸 또는 </a:t>
            </a:r>
            <a:r>
              <a:rPr b="0" lang="en-US" sz="1400" spc="-1" strike="noStrike">
                <a:solidFill>
                  <a:srgbClr val="8b949e"/>
                </a:solidFill>
                <a:latin typeface="Calibri"/>
              </a:rPr>
              <a:t>3</a:t>
            </a:r>
            <a:r>
              <a:rPr b="0" lang="zh-CN" sz="1400" spc="-1" strike="noStrike">
                <a:solidFill>
                  <a:srgbClr val="8b949e"/>
                </a:solidFill>
                <a:latin typeface="Calibri"/>
              </a:rPr>
              <a:t>칸 블록을 집어야 합니다</a:t>
            </a:r>
            <a:r>
              <a:rPr b="0" lang="en-US" sz="14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4" name="Rectangle 5"/>
          <p:cNvSpPr/>
          <p:nvPr/>
        </p:nvSpPr>
        <p:spPr>
          <a:xfrm>
            <a:off x="914400" y="2834640"/>
            <a:ext cx="5042520" cy="1965600"/>
          </a:xfrm>
          <a:prstGeom prst="rect">
            <a:avLst/>
          </a:prstGeom>
          <a:solidFill>
            <a:srgbClr val="1a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5" name="Rectangle 6"/>
          <p:cNvSpPr/>
          <p:nvPr/>
        </p:nvSpPr>
        <p:spPr>
          <a:xfrm>
            <a:off x="914400" y="2834640"/>
            <a:ext cx="50400" cy="19656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6" name="TextBox 7"/>
          <p:cNvSpPr/>
          <p:nvPr/>
        </p:nvSpPr>
        <p:spPr>
          <a:xfrm>
            <a:off x="1097280" y="294444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같은 색상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8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칸 연속 → 여러 분할 가능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7" name="TextBox 8"/>
          <p:cNvSpPr/>
          <p:nvPr/>
        </p:nvSpPr>
        <p:spPr>
          <a:xfrm>
            <a:off x="1097280" y="329184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3 + 3 + 2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8" name="TextBox 9"/>
          <p:cNvSpPr/>
          <p:nvPr/>
        </p:nvSpPr>
        <p:spPr>
          <a:xfrm>
            <a:off x="1097280" y="363924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3 + 2 + 3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9" name="TextBox 10"/>
          <p:cNvSpPr/>
          <p:nvPr/>
        </p:nvSpPr>
        <p:spPr>
          <a:xfrm>
            <a:off x="1097280" y="398664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2 + 3 + 3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0" name="TextBox 11"/>
          <p:cNvSpPr/>
          <p:nvPr/>
        </p:nvSpPr>
        <p:spPr>
          <a:xfrm>
            <a:off x="1097280" y="433440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2 + 2 + 2 + 2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1" name="Rectangle 12"/>
          <p:cNvSpPr/>
          <p:nvPr/>
        </p:nvSpPr>
        <p:spPr>
          <a:xfrm>
            <a:off x="6231600" y="2011680"/>
            <a:ext cx="5042520" cy="2852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32" name="Rectangle 13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33" name="TextBox 14"/>
          <p:cNvSpPr/>
          <p:nvPr/>
        </p:nvSpPr>
        <p:spPr>
          <a:xfrm>
            <a:off x="6414480" y="221292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7b72"/>
                </a:solidFill>
                <a:latin typeface="Calibri"/>
              </a:rPr>
              <a:t>왜 분할이 중요한가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4" name="TextBox 15"/>
          <p:cNvSpPr/>
          <p:nvPr/>
        </p:nvSpPr>
        <p:spPr>
          <a:xfrm>
            <a:off x="6414480" y="260604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잘못 분할하면 구조 안정성 하락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5" name="TextBox 16"/>
          <p:cNvSpPr/>
          <p:nvPr/>
        </p:nvSpPr>
        <p:spPr>
          <a:xfrm>
            <a:off x="6414480" y="311796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위층 블록 경계가 아래층 경계와 겹치면 불안정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6" name="TextBox 17"/>
          <p:cNvSpPr/>
          <p:nvPr/>
        </p:nvSpPr>
        <p:spPr>
          <a:xfrm>
            <a:off x="6414480" y="363024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Greedy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방식은 구조를 고려하지 못함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7" name="TextBox 18"/>
          <p:cNvSpPr/>
          <p:nvPr/>
        </p:nvSpPr>
        <p:spPr>
          <a:xfrm>
            <a:off x="6414480" y="414216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ee787"/>
                </a:solidFill>
                <a:latin typeface="Calibri"/>
              </a:rPr>
              <a:t>→ </a:t>
            </a:r>
            <a:r>
              <a:rPr b="0" lang="zh-CN" sz="1200" spc="-1" strike="noStrike">
                <a:solidFill>
                  <a:srgbClr val="7ee787"/>
                </a:solidFill>
                <a:latin typeface="Calibri"/>
              </a:rPr>
              <a:t>최적 분할 알고리즘 필요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8" name="TextBox 19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9" name="TextBox 20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19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4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sequencer · node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SequencerNode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역할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43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44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색상 배열을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2D grid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변환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5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46" name="TextBox 7"/>
          <p:cNvSpPr/>
          <p:nvPr/>
        </p:nvSpPr>
        <p:spPr>
          <a:xfrm>
            <a:off x="1261800" y="2670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행 단위 같은 색상 픽셀 추출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7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48" name="TextBox 9"/>
          <p:cNvSpPr/>
          <p:nvPr/>
        </p:nvSpPr>
        <p:spPr>
          <a:xfrm>
            <a:off x="1261800" y="332856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길이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2·3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의 조합으로 분할 후보 생성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9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50" name="TextBox 11"/>
          <p:cNvSpPr/>
          <p:nvPr/>
        </p:nvSpPr>
        <p:spPr>
          <a:xfrm>
            <a:off x="1261800" y="3986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Beam Search DP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구조적 후보 선택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1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52" name="TextBox 13"/>
          <p:cNvSpPr/>
          <p:nvPr/>
        </p:nvSpPr>
        <p:spPr>
          <a:xfrm>
            <a:off x="1261800" y="46450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아래층부터 위층으로 조립 순서 생성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3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54" name="TextBox 15"/>
          <p:cNvSpPr/>
          <p:nvPr/>
        </p:nvSpPr>
        <p:spPr>
          <a:xfrm>
            <a:off x="1261800" y="53035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각 블록을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BlockTask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변환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5" name="Rectangle 16"/>
          <p:cNvSpPr/>
          <p:nvPr/>
        </p:nvSpPr>
        <p:spPr>
          <a:xfrm>
            <a:off x="6231600" y="2011680"/>
            <a:ext cx="5042520" cy="11883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56" name="Rectangle 17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57" name="TextBox 18"/>
          <p:cNvSpPr/>
          <p:nvPr/>
        </p:nvSpPr>
        <p:spPr>
          <a:xfrm>
            <a:off x="6414480" y="2212920"/>
            <a:ext cx="4768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9c0ff"/>
                </a:solidFill>
                <a:latin typeface="Calibri"/>
              </a:rPr>
              <a:t>ROS2 Interface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8" name="TextBox 19"/>
          <p:cNvSpPr/>
          <p:nvPr/>
        </p:nvSpPr>
        <p:spPr>
          <a:xfrm>
            <a:off x="6414480" y="248724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/sequence/plan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9" name="TextBox 20"/>
          <p:cNvSpPr/>
          <p:nvPr/>
        </p:nvSpPr>
        <p:spPr>
          <a:xfrm>
            <a:off x="6414480" y="281628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색상 격자 →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BlockTask[]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0" name="Rectangle 21"/>
          <p:cNvSpPr/>
          <p:nvPr/>
        </p:nvSpPr>
        <p:spPr>
          <a:xfrm>
            <a:off x="6231600" y="3337560"/>
            <a:ext cx="5042520" cy="173700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61" name="Rectangle 22"/>
          <p:cNvSpPr/>
          <p:nvPr/>
        </p:nvSpPr>
        <p:spPr>
          <a:xfrm>
            <a:off x="6231600" y="333756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62" name="TextBox 23"/>
          <p:cNvSpPr/>
          <p:nvPr/>
        </p:nvSpPr>
        <p:spPr>
          <a:xfrm>
            <a:off x="6414480" y="35388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ee787"/>
                </a:solidFill>
                <a:latin typeface="Calibri"/>
              </a:rPr>
              <a:t>BlockTask </a:t>
            </a:r>
            <a:r>
              <a:rPr b="1" lang="zh-CN" sz="1100" spc="-1" strike="noStrike">
                <a:solidFill>
                  <a:srgbClr val="7ee787"/>
                </a:solidFill>
                <a:latin typeface="Calibri"/>
              </a:rPr>
              <a:t>구조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3" name="TextBox 24"/>
          <p:cNvSpPr/>
          <p:nvPr/>
        </p:nvSpPr>
        <p:spPr>
          <a:xfrm>
            <a:off x="6414480" y="3858840"/>
            <a:ext cx="476820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color: str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block_type: int  # 2 or 3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col: int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row: int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layer: int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4" name="TextBox 25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65" name="TextBox 26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20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67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sequencer · algorithm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8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Beam Search DP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설계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69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70" name="TextBox 5"/>
          <p:cNvSpPr/>
          <p:nvPr/>
        </p:nvSpPr>
        <p:spPr>
          <a:xfrm>
            <a:off x="1261800" y="201168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각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run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2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와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3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의 순서 있는 조합으로 분할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1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72" name="TextBox 7"/>
          <p:cNvSpPr/>
          <p:nvPr/>
        </p:nvSpPr>
        <p:spPr>
          <a:xfrm>
            <a:off x="1261800" y="26701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아래층부터 후보 생성 — 기초 레이어 먼저 확정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3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74" name="TextBox 9"/>
          <p:cNvSpPr/>
          <p:nvPr/>
        </p:nvSpPr>
        <p:spPr>
          <a:xfrm>
            <a:off x="1261800" y="332856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아래층 내부 경계를 계산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5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76" name="TextBox 11"/>
          <p:cNvSpPr/>
          <p:nvPr/>
        </p:nvSpPr>
        <p:spPr>
          <a:xfrm>
            <a:off x="1261800" y="398664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위층 블록이 아래층 경계를 적절히 걸치는지 평가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7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78" name="TextBox 13"/>
          <p:cNvSpPr/>
          <p:nvPr/>
        </p:nvSpPr>
        <p:spPr>
          <a:xfrm>
            <a:off x="1261800" y="464508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위반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loss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부여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누적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loss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가 낮은 후보 유지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9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80" name="TextBox 15"/>
          <p:cNvSpPr/>
          <p:nvPr/>
        </p:nvSpPr>
        <p:spPr>
          <a:xfrm>
            <a:off x="1261800" y="53035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beam width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후보 수를 제한해 계산량 제어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81" name="Rectangle 16"/>
          <p:cNvSpPr/>
          <p:nvPr/>
        </p:nvSpPr>
        <p:spPr>
          <a:xfrm>
            <a:off x="914400" y="5815440"/>
            <a:ext cx="3331080" cy="71280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82" name="TextBox 17"/>
          <p:cNvSpPr/>
          <p:nvPr/>
        </p:nvSpPr>
        <p:spPr>
          <a:xfrm>
            <a:off x="1051560" y="59619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ee787"/>
                </a:solidFill>
                <a:latin typeface="Noto Color Emoji"/>
              </a:rPr>
              <a:t>📐</a:t>
            </a:r>
            <a:r>
              <a:rPr b="0" lang="en-US" sz="1200" spc="-1" strike="noStrike">
                <a:solidFill>
                  <a:srgbClr val="7ee787"/>
                </a:solidFill>
                <a:latin typeface="Calibri"/>
              </a:rPr>
              <a:t>  </a:t>
            </a:r>
            <a:r>
              <a:rPr b="0" lang="zh-CN" sz="1200" spc="-1" strike="noStrike">
                <a:solidFill>
                  <a:srgbClr val="7ee787"/>
                </a:solidFill>
                <a:latin typeface="Calibri"/>
              </a:rPr>
              <a:t>경계 </a:t>
            </a:r>
            <a:r>
              <a:rPr b="0" lang="en-US" sz="1200" spc="-1" strike="noStrike">
                <a:solidFill>
                  <a:srgbClr val="7ee787"/>
                </a:solidFill>
                <a:latin typeface="Calibri"/>
              </a:rPr>
              <a:t>overlap </a:t>
            </a:r>
            <a:r>
              <a:rPr b="0" lang="zh-CN" sz="1200" spc="-1" strike="noStrike">
                <a:solidFill>
                  <a:srgbClr val="7ee787"/>
                </a:solidFill>
                <a:latin typeface="Calibri"/>
              </a:rPr>
              <a:t>평가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3" name="Rectangle 18"/>
          <p:cNvSpPr/>
          <p:nvPr/>
        </p:nvSpPr>
        <p:spPr>
          <a:xfrm>
            <a:off x="4428720" y="5815440"/>
            <a:ext cx="3331080" cy="71280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84" name="TextBox 19"/>
          <p:cNvSpPr/>
          <p:nvPr/>
        </p:nvSpPr>
        <p:spPr>
          <a:xfrm>
            <a:off x="4565880" y="59619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9c0ff"/>
                </a:solidFill>
                <a:latin typeface="Noto Color Emoji"/>
              </a:rPr>
              <a:t>⚖️</a:t>
            </a:r>
            <a:r>
              <a:rPr b="0" lang="en-US" sz="1200" spc="-1" strike="noStrike">
                <a:solidFill>
                  <a:srgbClr val="79c0ff"/>
                </a:solidFill>
                <a:latin typeface="Calibri"/>
              </a:rPr>
              <a:t>  </a:t>
            </a:r>
            <a:r>
              <a:rPr b="0" lang="zh-CN" sz="1200" spc="-1" strike="noStrike">
                <a:solidFill>
                  <a:srgbClr val="79c0ff"/>
                </a:solidFill>
                <a:latin typeface="Calibri"/>
              </a:rPr>
              <a:t>누적 </a:t>
            </a:r>
            <a:r>
              <a:rPr b="0" lang="en-US" sz="1200" spc="-1" strike="noStrike">
                <a:solidFill>
                  <a:srgbClr val="79c0ff"/>
                </a:solidFill>
                <a:latin typeface="Calibri"/>
              </a:rPr>
              <a:t>loss </a:t>
            </a:r>
            <a:r>
              <a:rPr b="0" lang="zh-CN" sz="1200" spc="-1" strike="noStrike">
                <a:solidFill>
                  <a:srgbClr val="79c0ff"/>
                </a:solidFill>
                <a:latin typeface="Calibri"/>
              </a:rPr>
              <a:t>최소화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5" name="Rectangle 20"/>
          <p:cNvSpPr/>
          <p:nvPr/>
        </p:nvSpPr>
        <p:spPr>
          <a:xfrm>
            <a:off x="7943040" y="5815440"/>
            <a:ext cx="3331080" cy="71280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86" name="TextBox 21"/>
          <p:cNvSpPr/>
          <p:nvPr/>
        </p:nvSpPr>
        <p:spPr>
          <a:xfrm>
            <a:off x="8080200" y="5961960"/>
            <a:ext cx="314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d2a8ff"/>
                </a:solidFill>
                <a:latin typeface="Noto Color Emoji"/>
              </a:rPr>
              <a:t>🎯</a:t>
            </a:r>
            <a:r>
              <a:rPr b="0" lang="en-US" sz="1200" spc="-1" strike="noStrike">
                <a:solidFill>
                  <a:srgbClr val="d2a8ff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d2a8ff"/>
                </a:solidFill>
                <a:latin typeface="Calibri"/>
              </a:rPr>
              <a:t>beam width </a:t>
            </a:r>
            <a:r>
              <a:rPr b="0" lang="zh-CN" sz="1200" spc="-1" strike="noStrike">
                <a:solidFill>
                  <a:srgbClr val="d2a8ff"/>
                </a:solidFill>
                <a:latin typeface="Calibri"/>
              </a:rPr>
              <a:t>탐색 제어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7" name="TextBox 22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88" name="TextBox 23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21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90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design · decision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91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왜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Greedy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가 아니라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Beam Search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인가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92" name="Rectangle 4"/>
          <p:cNvSpPr/>
          <p:nvPr/>
        </p:nvSpPr>
        <p:spPr>
          <a:xfrm>
            <a:off x="914400" y="2011680"/>
            <a:ext cx="333108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93" name="Rectangle 5"/>
          <p:cNvSpPr/>
          <p:nvPr/>
        </p:nvSpPr>
        <p:spPr>
          <a:xfrm>
            <a:off x="914400" y="2011680"/>
            <a:ext cx="333108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94" name="TextBox 6"/>
          <p:cNvSpPr/>
          <p:nvPr/>
        </p:nvSpPr>
        <p:spPr>
          <a:xfrm>
            <a:off x="1051560" y="2212920"/>
            <a:ext cx="3102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7b72"/>
                </a:solidFill>
                <a:latin typeface="Noto Color Emoji"/>
              </a:rPr>
              <a:t>❌</a:t>
            </a:r>
            <a:r>
              <a:rPr b="1" lang="en-US" sz="1400" spc="-1" strike="noStrike">
                <a:solidFill>
                  <a:srgbClr val="ff7b72"/>
                </a:solidFill>
                <a:latin typeface="Calibri"/>
              </a:rPr>
              <a:t> </a:t>
            </a:r>
            <a:r>
              <a:rPr b="1" lang="en-US" sz="1400" spc="-1" strike="noStrike">
                <a:solidFill>
                  <a:srgbClr val="ff7b72"/>
                </a:solidFill>
                <a:latin typeface="Calibri"/>
              </a:rPr>
              <a:t>Greedy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5" name="TextBox 7"/>
          <p:cNvSpPr/>
          <p:nvPr/>
        </p:nvSpPr>
        <p:spPr>
          <a:xfrm>
            <a:off x="1051560" y="2633400"/>
            <a:ext cx="3102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빠르지만 구조 안정성을 전혀 고려하지 못함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첫 번째 분할만 보고 결정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6" name="Rectangle 8"/>
          <p:cNvSpPr/>
          <p:nvPr/>
        </p:nvSpPr>
        <p:spPr>
          <a:xfrm>
            <a:off x="4428720" y="2011680"/>
            <a:ext cx="333108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97" name="Rectangle 9"/>
          <p:cNvSpPr/>
          <p:nvPr/>
        </p:nvSpPr>
        <p:spPr>
          <a:xfrm>
            <a:off x="4428720" y="2011680"/>
            <a:ext cx="333108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98" name="TextBox 10"/>
          <p:cNvSpPr/>
          <p:nvPr/>
        </p:nvSpPr>
        <p:spPr>
          <a:xfrm>
            <a:off x="4565880" y="2212920"/>
            <a:ext cx="3102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7ee787"/>
                </a:solidFill>
                <a:latin typeface="Noto Color Emoji"/>
              </a:rPr>
              <a:t>✅</a:t>
            </a:r>
            <a:r>
              <a:rPr b="1" lang="en-US" sz="14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en-US" sz="1400" spc="-1" strike="noStrike">
                <a:solidFill>
                  <a:srgbClr val="7ee787"/>
                </a:solidFill>
                <a:latin typeface="Calibri"/>
              </a:rPr>
              <a:t>Beam Search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9" name="TextBox 11"/>
          <p:cNvSpPr/>
          <p:nvPr/>
        </p:nvSpPr>
        <p:spPr>
          <a:xfrm>
            <a:off x="4565880" y="2633400"/>
            <a:ext cx="3102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후보 수를 제한해 계산량 제어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 Greedy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보다 좋은 구조 후보 탐색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속도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품질 균형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0" name="Rectangle 12"/>
          <p:cNvSpPr/>
          <p:nvPr/>
        </p:nvSpPr>
        <p:spPr>
          <a:xfrm>
            <a:off x="7943040" y="2011680"/>
            <a:ext cx="333108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01" name="Rectangle 13"/>
          <p:cNvSpPr/>
          <p:nvPr/>
        </p:nvSpPr>
        <p:spPr>
          <a:xfrm>
            <a:off x="7943040" y="2011680"/>
            <a:ext cx="333108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02" name="TextBox 14"/>
          <p:cNvSpPr/>
          <p:nvPr/>
        </p:nvSpPr>
        <p:spPr>
          <a:xfrm>
            <a:off x="8080200" y="2212920"/>
            <a:ext cx="3102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79c0ff"/>
                </a:solidFill>
                <a:latin typeface="Noto Color Emoji"/>
              </a:rPr>
              <a:t>⚠️</a:t>
            </a:r>
            <a:r>
              <a:rPr b="1" lang="en-US" sz="1400" spc="-1" strike="noStrike">
                <a:solidFill>
                  <a:srgbClr val="79c0ff"/>
                </a:solidFill>
                <a:latin typeface="Calibri"/>
              </a:rPr>
              <a:t> </a:t>
            </a:r>
            <a:r>
              <a:rPr b="1" lang="zh-CN" sz="1400" spc="-1" strike="noStrike">
                <a:solidFill>
                  <a:srgbClr val="79c0ff"/>
                </a:solidFill>
                <a:latin typeface="Calibri"/>
              </a:rPr>
              <a:t>완전 탐색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3" name="TextBox 15"/>
          <p:cNvSpPr/>
          <p:nvPr/>
        </p:nvSpPr>
        <p:spPr>
          <a:xfrm>
            <a:off x="8080200" y="2633400"/>
            <a:ext cx="3102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가능한 모든 조합을 보지만 실행 시간이 커짐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실시간 데모에 부적합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4" name="Rectangle 16"/>
          <p:cNvSpPr/>
          <p:nvPr/>
        </p:nvSpPr>
        <p:spPr>
          <a:xfrm>
            <a:off x="914400" y="4572000"/>
            <a:ext cx="10359720" cy="7311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05" name="Rectangle 17"/>
          <p:cNvSpPr/>
          <p:nvPr/>
        </p:nvSpPr>
        <p:spPr>
          <a:xfrm>
            <a:off x="914400" y="4572000"/>
            <a:ext cx="103597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06" name="TextBox 18"/>
          <p:cNvSpPr/>
          <p:nvPr/>
        </p:nvSpPr>
        <p:spPr>
          <a:xfrm>
            <a:off x="1097280" y="4736520"/>
            <a:ext cx="99939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결론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: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실시간성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구현 난이도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안정성 사이의 절충안으로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Beam Search DP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가 최적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07" name="TextBox 19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08" name="TextBox 20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22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10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robot · coordinate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11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로봇 좌표 변환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612" name="Rectangle 4"/>
          <p:cNvSpPr/>
          <p:nvPr/>
        </p:nvSpPr>
        <p:spPr>
          <a:xfrm>
            <a:off x="914400" y="2011680"/>
            <a:ext cx="5042520" cy="109692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13" name="Rectangle 5"/>
          <p:cNvSpPr/>
          <p:nvPr/>
        </p:nvSpPr>
        <p:spPr>
          <a:xfrm>
            <a:off x="914400" y="2011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14" name="TextBox 6"/>
          <p:cNvSpPr/>
          <p:nvPr/>
        </p:nvSpPr>
        <p:spPr>
          <a:xfrm>
            <a:off x="1078920" y="22129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Y </a:t>
            </a: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좌표 변환 </a:t>
            </a: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(</a:t>
            </a: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격자 </a:t>
            </a: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col → </a:t>
            </a: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로봇 </a:t>
            </a: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Y)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5" name="Rectangle 7"/>
          <p:cNvSpPr/>
          <p:nvPr/>
        </p:nvSpPr>
        <p:spPr>
          <a:xfrm>
            <a:off x="1078920" y="2560320"/>
            <a:ext cx="4768200" cy="420120"/>
          </a:xfrm>
          <a:prstGeom prst="rect">
            <a:avLst/>
          </a:prstGeom>
          <a:solidFill>
            <a:srgbClr val="0104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16" name="TextBox 8"/>
          <p:cNvSpPr/>
          <p:nvPr/>
        </p:nvSpPr>
        <p:spPr>
          <a:xfrm>
            <a:off x="1188720" y="2651760"/>
            <a:ext cx="4585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y = y_col0 - center_col × cell_pitch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7" name="Rectangle 9"/>
          <p:cNvSpPr/>
          <p:nvPr/>
        </p:nvSpPr>
        <p:spPr>
          <a:xfrm>
            <a:off x="914400" y="3246120"/>
            <a:ext cx="5042520" cy="109692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18" name="Rectangle 10"/>
          <p:cNvSpPr/>
          <p:nvPr/>
        </p:nvSpPr>
        <p:spPr>
          <a:xfrm>
            <a:off x="914400" y="3246120"/>
            <a:ext cx="504252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19" name="TextBox 11"/>
          <p:cNvSpPr/>
          <p:nvPr/>
        </p:nvSpPr>
        <p:spPr>
          <a:xfrm>
            <a:off x="1078920" y="344736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d2a8ff"/>
                </a:solidFill>
                <a:latin typeface="Calibri"/>
              </a:rPr>
              <a:t>Z </a:t>
            </a:r>
            <a:r>
              <a:rPr b="1" lang="zh-CN" sz="1200" spc="-1" strike="noStrike">
                <a:solidFill>
                  <a:srgbClr val="d2a8ff"/>
                </a:solidFill>
                <a:latin typeface="Calibri"/>
              </a:rPr>
              <a:t>높이 변환 </a:t>
            </a:r>
            <a:r>
              <a:rPr b="1" lang="en-US" sz="1200" spc="-1" strike="noStrike">
                <a:solidFill>
                  <a:srgbClr val="d2a8ff"/>
                </a:solidFill>
                <a:latin typeface="Calibri"/>
              </a:rPr>
              <a:t>(row → layer)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0" name="Rectangle 12"/>
          <p:cNvSpPr/>
          <p:nvPr/>
        </p:nvSpPr>
        <p:spPr>
          <a:xfrm>
            <a:off x="1078920" y="3794760"/>
            <a:ext cx="4768200" cy="420120"/>
          </a:xfrm>
          <a:prstGeom prst="rect">
            <a:avLst/>
          </a:prstGeom>
          <a:solidFill>
            <a:srgbClr val="0104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21" name="TextBox 13"/>
          <p:cNvSpPr/>
          <p:nvPr/>
        </p:nvSpPr>
        <p:spPr>
          <a:xfrm>
            <a:off x="1188720" y="3886200"/>
            <a:ext cx="45853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z = base_z + layer × block_height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22" name="Rectangle 14"/>
          <p:cNvSpPr/>
          <p:nvPr/>
        </p:nvSpPr>
        <p:spPr>
          <a:xfrm>
            <a:off x="6231600" y="2011680"/>
            <a:ext cx="5042520" cy="26330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23" name="Rectangle 15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24" name="TextBox 16"/>
          <p:cNvSpPr/>
          <p:nvPr/>
        </p:nvSpPr>
        <p:spPr>
          <a:xfrm>
            <a:off x="6414480" y="221292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변환 파라미터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25" name="TextBox 17"/>
          <p:cNvSpPr/>
          <p:nvPr/>
        </p:nvSpPr>
        <p:spPr>
          <a:xfrm>
            <a:off x="6414480" y="2606040"/>
            <a:ext cx="1096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9c0ff"/>
                </a:solidFill>
                <a:latin typeface="Calibri"/>
              </a:rPr>
              <a:t>col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6" name="TextBox 18"/>
          <p:cNvSpPr/>
          <p:nvPr/>
        </p:nvSpPr>
        <p:spPr>
          <a:xfrm>
            <a:off x="7557480" y="2606040"/>
            <a:ext cx="3579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격자 열 인덱스 →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Y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좌표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7" name="TextBox 19"/>
          <p:cNvSpPr/>
          <p:nvPr/>
        </p:nvSpPr>
        <p:spPr>
          <a:xfrm>
            <a:off x="6414480" y="3008520"/>
            <a:ext cx="1096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9c0ff"/>
                </a:solidFill>
                <a:latin typeface="Calibri"/>
              </a:rPr>
              <a:t>row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8" name="TextBox 20"/>
          <p:cNvSpPr/>
          <p:nvPr/>
        </p:nvSpPr>
        <p:spPr>
          <a:xfrm>
            <a:off x="7557480" y="3008520"/>
            <a:ext cx="3579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격자 행 인덱스 →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layer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9" name="TextBox 21"/>
          <p:cNvSpPr/>
          <p:nvPr/>
        </p:nvSpPr>
        <p:spPr>
          <a:xfrm>
            <a:off x="6414480" y="3410640"/>
            <a:ext cx="1096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9c0ff"/>
                </a:solidFill>
                <a:latin typeface="Calibri"/>
              </a:rPr>
              <a:t>layer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0" name="TextBox 22"/>
          <p:cNvSpPr/>
          <p:nvPr/>
        </p:nvSpPr>
        <p:spPr>
          <a:xfrm>
            <a:off x="7557480" y="3410640"/>
            <a:ext cx="3579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조립 높이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Z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계산에 사용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1" name="TextBox 23"/>
          <p:cNvSpPr/>
          <p:nvPr/>
        </p:nvSpPr>
        <p:spPr>
          <a:xfrm>
            <a:off x="6414480" y="3813120"/>
            <a:ext cx="1096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9c0ff"/>
                </a:solidFill>
                <a:latin typeface="Calibri"/>
              </a:rPr>
              <a:t>block_type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2" name="TextBox 24"/>
          <p:cNvSpPr/>
          <p:nvPr/>
        </p:nvSpPr>
        <p:spPr>
          <a:xfrm>
            <a:off x="7557480" y="3813120"/>
            <a:ext cx="3579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2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칸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/ 3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칸 블록 구분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3" name="TextBox 25"/>
          <p:cNvSpPr/>
          <p:nvPr/>
        </p:nvSpPr>
        <p:spPr>
          <a:xfrm>
            <a:off x="6414480" y="4215240"/>
            <a:ext cx="1096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9c0ff"/>
                </a:solidFill>
                <a:latin typeface="Calibri"/>
              </a:rPr>
              <a:t>color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4" name="TextBox 26"/>
          <p:cNvSpPr/>
          <p:nvPr/>
        </p:nvSpPr>
        <p:spPr>
          <a:xfrm>
            <a:off x="7557480" y="4215240"/>
            <a:ext cx="3579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키팅 트레이 위치 선택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5" name="TextBox 27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36" name="TextBox 28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23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38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robot · control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9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로봇 제어 기능 개요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640" name="Rectangle 4"/>
          <p:cNvSpPr/>
          <p:nvPr/>
        </p:nvSpPr>
        <p:spPr>
          <a:xfrm>
            <a:off x="914400" y="2011680"/>
            <a:ext cx="5042520" cy="10054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41" name="Rectangle 5"/>
          <p:cNvSpPr/>
          <p:nvPr/>
        </p:nvSpPr>
        <p:spPr>
          <a:xfrm>
            <a:off x="9144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42" name="TextBox 6"/>
          <p:cNvSpPr/>
          <p:nvPr/>
        </p:nvSpPr>
        <p:spPr>
          <a:xfrm>
            <a:off x="1078920" y="219456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ee787"/>
                </a:solidFill>
                <a:latin typeface="Calibri"/>
              </a:rPr>
              <a:t>하드웨어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3" name="TextBox 7"/>
          <p:cNvSpPr/>
          <p:nvPr/>
        </p:nvSpPr>
        <p:spPr>
          <a:xfrm>
            <a:off x="1078920" y="2487240"/>
            <a:ext cx="4768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Doosan M0609  ·  OnRobot RG2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44" name="Rectangle 8"/>
          <p:cNvSpPr/>
          <p:nvPr/>
        </p:nvSpPr>
        <p:spPr>
          <a:xfrm>
            <a:off x="6231600" y="2011680"/>
            <a:ext cx="5042520" cy="10054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45" name="Rectangle 9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46" name="TextBox 10"/>
          <p:cNvSpPr/>
          <p:nvPr/>
        </p:nvSpPr>
        <p:spPr>
          <a:xfrm>
            <a:off x="6414480" y="219456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9c0ff"/>
                </a:solidFill>
                <a:latin typeface="Calibri"/>
              </a:rPr>
              <a:t>ROS2 </a:t>
            </a:r>
            <a:r>
              <a:rPr b="1" lang="zh-CN" sz="1100" spc="-1" strike="noStrike">
                <a:solidFill>
                  <a:srgbClr val="79c0ff"/>
                </a:solidFill>
                <a:latin typeface="Calibri"/>
              </a:rPr>
              <a:t>인터페이스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7" name="TextBox 11"/>
          <p:cNvSpPr/>
          <p:nvPr/>
        </p:nvSpPr>
        <p:spPr>
          <a:xfrm>
            <a:off x="6414480" y="248724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/execute_queue —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액션 서버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BlockTask[]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배열 수신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8" name="Rectangle 12"/>
          <p:cNvSpPr/>
          <p:nvPr/>
        </p:nvSpPr>
        <p:spPr>
          <a:xfrm>
            <a:off x="914400" y="3154680"/>
            <a:ext cx="5042520" cy="11883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49" name="Rectangle 13"/>
          <p:cNvSpPr/>
          <p:nvPr/>
        </p:nvSpPr>
        <p:spPr>
          <a:xfrm>
            <a:off x="914400" y="3154680"/>
            <a:ext cx="504252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50" name="TextBox 14"/>
          <p:cNvSpPr/>
          <p:nvPr/>
        </p:nvSpPr>
        <p:spPr>
          <a:xfrm>
            <a:off x="1078920" y="33559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d2a8ff"/>
                </a:solidFill>
                <a:latin typeface="Calibri"/>
              </a:rPr>
              <a:t>Pick </a:t>
            </a:r>
            <a:r>
              <a:rPr b="1" lang="zh-CN" sz="1100" spc="-1" strike="noStrike">
                <a:solidFill>
                  <a:srgbClr val="d2a8ff"/>
                </a:solidFill>
                <a:latin typeface="Calibri"/>
              </a:rPr>
              <a:t>단계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51" name="TextBox 15"/>
          <p:cNvSpPr/>
          <p:nvPr/>
        </p:nvSpPr>
        <p:spPr>
          <a:xfrm>
            <a:off x="1078920" y="365760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overhead  ·  approach  ·  pick pose  ·  grip  ·  retract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2" name="Rectangle 16"/>
          <p:cNvSpPr/>
          <p:nvPr/>
        </p:nvSpPr>
        <p:spPr>
          <a:xfrm>
            <a:off x="6231600" y="3154680"/>
            <a:ext cx="5042520" cy="11883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53" name="Rectangle 17"/>
          <p:cNvSpPr/>
          <p:nvPr/>
        </p:nvSpPr>
        <p:spPr>
          <a:xfrm>
            <a:off x="6231600" y="3154680"/>
            <a:ext cx="504252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54" name="TextBox 18"/>
          <p:cNvSpPr/>
          <p:nvPr/>
        </p:nvSpPr>
        <p:spPr>
          <a:xfrm>
            <a:off x="6414480" y="33559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7b72"/>
                </a:solidFill>
                <a:latin typeface="Calibri"/>
              </a:rPr>
              <a:t>Place </a:t>
            </a:r>
            <a:r>
              <a:rPr b="1" lang="zh-CN" sz="1100" spc="-1" strike="noStrike">
                <a:solidFill>
                  <a:srgbClr val="ff7b72"/>
                </a:solidFill>
                <a:latin typeface="Calibri"/>
              </a:rPr>
              <a:t>단계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55" name="TextBox 19"/>
          <p:cNvSpPr/>
          <p:nvPr/>
        </p:nvSpPr>
        <p:spPr>
          <a:xfrm>
            <a:off x="6414480" y="365760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overhead  ·  pre-descend  ·  force descend  ·  spiral insert  ·  release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6" name="Rectangle 20"/>
          <p:cNvSpPr/>
          <p:nvPr/>
        </p:nvSpPr>
        <p:spPr>
          <a:xfrm>
            <a:off x="914400" y="4526280"/>
            <a:ext cx="10359720" cy="639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57" name="TextBox 21"/>
          <p:cNvSpPr/>
          <p:nvPr/>
        </p:nvSpPr>
        <p:spPr>
          <a:xfrm>
            <a:off x="1097280" y="4663440"/>
            <a:ext cx="999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색상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블록 타입별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KittingTrayProfile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 실제 티칭된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pose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사용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/ waypoint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 충돌 위험 감소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8" name="TextBox 22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59" name="TextBox 23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24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6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robot · pick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Pick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동작 구현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663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4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색상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·block type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으로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KittingTrayProfile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선택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65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6" name="TextBox 7"/>
          <p:cNvSpPr/>
          <p:nvPr/>
        </p:nvSpPr>
        <p:spPr>
          <a:xfrm>
            <a:off x="1261800" y="2670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waypoint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경유 — 먼 트레이 접근 시 충돌 위험 감소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67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8" name="TextBox 9"/>
          <p:cNvSpPr/>
          <p:nvPr/>
        </p:nvSpPr>
        <p:spPr>
          <a:xfrm>
            <a:off x="1261800" y="332856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overhead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이동과 그리퍼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open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병렬화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69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0" name="TextBox 11"/>
          <p:cNvSpPr/>
          <p:nvPr/>
        </p:nvSpPr>
        <p:spPr>
          <a:xfrm>
            <a:off x="1261800" y="3986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pick pose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근처에서 저속 정밀 하강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1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2" name="TextBox 13"/>
          <p:cNvSpPr/>
          <p:nvPr/>
        </p:nvSpPr>
        <p:spPr>
          <a:xfrm>
            <a:off x="1261800" y="46450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pick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직전 웹캠 검사 수행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3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4" name="TextBox 15"/>
          <p:cNvSpPr/>
          <p:nvPr/>
        </p:nvSpPr>
        <p:spPr>
          <a:xfrm>
            <a:off x="1261800" y="53035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tool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좌표계 기준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retract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수행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5" name="Rectangle 16"/>
          <p:cNvSpPr/>
          <p:nvPr/>
        </p:nvSpPr>
        <p:spPr>
          <a:xfrm>
            <a:off x="6231600" y="2011680"/>
            <a:ext cx="5042520" cy="146268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76" name="Rectangle 17"/>
          <p:cNvSpPr/>
          <p:nvPr/>
        </p:nvSpPr>
        <p:spPr>
          <a:xfrm>
            <a:off x="6231600" y="2011680"/>
            <a:ext cx="50400" cy="146268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77" name="TextBox 18"/>
          <p:cNvSpPr/>
          <p:nvPr/>
        </p:nvSpPr>
        <p:spPr>
          <a:xfrm>
            <a:off x="6414480" y="217620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병렬화 최적화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8" name="TextBox 19"/>
          <p:cNvSpPr/>
          <p:nvPr/>
        </p:nvSpPr>
        <p:spPr>
          <a:xfrm>
            <a:off x="6414480" y="250560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overhead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이동 중 그리퍼를 열어 대기시간 단축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실제 로봇 이동 중 준비 작업 동시 수행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9" name="Rectangle 20"/>
          <p:cNvSpPr/>
          <p:nvPr/>
        </p:nvSpPr>
        <p:spPr>
          <a:xfrm>
            <a:off x="6231600" y="3611880"/>
            <a:ext cx="5042520" cy="1279800"/>
          </a:xfrm>
          <a:prstGeom prst="rect">
            <a:avLst/>
          </a:prstGeom>
          <a:solidFill>
            <a:srgbClr val="1a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80" name="Rectangle 21"/>
          <p:cNvSpPr/>
          <p:nvPr/>
        </p:nvSpPr>
        <p:spPr>
          <a:xfrm>
            <a:off x="6231600" y="3611880"/>
            <a:ext cx="50400" cy="1279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81" name="TextBox 22"/>
          <p:cNvSpPr/>
          <p:nvPr/>
        </p:nvSpPr>
        <p:spPr>
          <a:xfrm>
            <a:off x="6414480" y="377640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Noto Color Emoji"/>
              </a:rPr>
              <a:t>⚠️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pick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직전 웹캠 검사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2" name="TextBox 23"/>
          <p:cNvSpPr/>
          <p:nvPr/>
        </p:nvSpPr>
        <p:spPr>
          <a:xfrm>
            <a:off x="6414480" y="410580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블록 없으면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grip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안 하고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pause.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공집기 방지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3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84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25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8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robot · place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Place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동작 구현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688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9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Y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좌표 유효성 검사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(NaN/Inf,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허용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Y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범위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0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1" name="TextBox 7"/>
          <p:cNvSpPr/>
          <p:nvPr/>
        </p:nvSpPr>
        <p:spPr>
          <a:xfrm>
            <a:off x="1261800" y="2670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stack_index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기반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Z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높이 계산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2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3" name="TextBox 9"/>
          <p:cNvSpPr/>
          <p:nvPr/>
        </p:nvSpPr>
        <p:spPr>
          <a:xfrm>
            <a:off x="1261800" y="332856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고속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pre-descend →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저속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force descend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4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5" name="TextBox 11"/>
          <p:cNvSpPr/>
          <p:nvPr/>
        </p:nvSpPr>
        <p:spPr>
          <a:xfrm>
            <a:off x="1261800" y="3986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compliance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제어 적용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6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7" name="TextBox 13"/>
          <p:cNvSpPr/>
          <p:nvPr/>
        </p:nvSpPr>
        <p:spPr>
          <a:xfrm>
            <a:off x="1261800" y="46450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spiral motion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으로 체결 보조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8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9" name="TextBox 15"/>
          <p:cNvSpPr/>
          <p:nvPr/>
        </p:nvSpPr>
        <p:spPr>
          <a:xfrm>
            <a:off x="1261800" y="53035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release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overhead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복귀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00" name="Rectangle 16"/>
          <p:cNvSpPr/>
          <p:nvPr/>
        </p:nvSpPr>
        <p:spPr>
          <a:xfrm>
            <a:off x="6231600" y="2011680"/>
            <a:ext cx="5042520" cy="10054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01" name="Rectangle 17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02" name="TextBox 18"/>
          <p:cNvSpPr/>
          <p:nvPr/>
        </p:nvSpPr>
        <p:spPr>
          <a:xfrm>
            <a:off x="6414480" y="22129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7ee787"/>
                </a:solidFill>
                <a:latin typeface="Calibri"/>
              </a:rPr>
              <a:t>Z </a:t>
            </a:r>
            <a:r>
              <a:rPr b="1" lang="zh-CN" sz="1100" spc="-1" strike="noStrike">
                <a:solidFill>
                  <a:srgbClr val="7ee787"/>
                </a:solidFill>
                <a:latin typeface="Calibri"/>
              </a:rPr>
              <a:t>높이 계산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3" name="Rectangle 19"/>
          <p:cNvSpPr/>
          <p:nvPr/>
        </p:nvSpPr>
        <p:spPr>
          <a:xfrm>
            <a:off x="6414480" y="2541960"/>
            <a:ext cx="4768200" cy="347040"/>
          </a:xfrm>
          <a:prstGeom prst="rect">
            <a:avLst/>
          </a:prstGeom>
          <a:solidFill>
            <a:srgbClr val="0104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04" name="TextBox 20"/>
          <p:cNvSpPr/>
          <p:nvPr/>
        </p:nvSpPr>
        <p:spPr>
          <a:xfrm>
            <a:off x="6524280" y="2615040"/>
            <a:ext cx="4539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z = base_z + stack_index × block_h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5" name="Rectangle 21"/>
          <p:cNvSpPr/>
          <p:nvPr/>
        </p:nvSpPr>
        <p:spPr>
          <a:xfrm>
            <a:off x="6231600" y="3154680"/>
            <a:ext cx="5042520" cy="10054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06" name="Rectangle 22"/>
          <p:cNvSpPr/>
          <p:nvPr/>
        </p:nvSpPr>
        <p:spPr>
          <a:xfrm>
            <a:off x="6231600" y="3154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07" name="TextBox 23"/>
          <p:cNvSpPr/>
          <p:nvPr/>
        </p:nvSpPr>
        <p:spPr>
          <a:xfrm>
            <a:off x="6414480" y="33559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9c0ff"/>
                </a:solidFill>
                <a:latin typeface="Calibri"/>
              </a:rPr>
              <a:t>유효성 검사 항목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8" name="TextBox 24"/>
          <p:cNvSpPr/>
          <p:nvPr/>
        </p:nvSpPr>
        <p:spPr>
          <a:xfrm>
            <a:off x="6414480" y="367596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NaN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방지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·  Inf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방지 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·  Y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범위 검사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9" name="TextBox 25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10" name="TextBox 26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26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12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design · decision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3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왜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Force + Spiral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방식을 선택했는가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714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15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16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단순 위치 제어만으로는 체결 실패 가능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7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레고 체결은 미세한 위치 오차에도 민감함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8" name="Rectangle 8"/>
          <p:cNvSpPr/>
          <p:nvPr/>
        </p:nvSpPr>
        <p:spPr>
          <a:xfrm>
            <a:off x="914400" y="276156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19" name="Rectangle 9"/>
          <p:cNvSpPr/>
          <p:nvPr/>
        </p:nvSpPr>
        <p:spPr>
          <a:xfrm>
            <a:off x="914400" y="276156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20" name="TextBox 10"/>
          <p:cNvSpPr/>
          <p:nvPr/>
        </p:nvSpPr>
        <p:spPr>
          <a:xfrm>
            <a:off x="1078920" y="28162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Force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제어 →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Z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방향 접촉을 부드럽게 처리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1" name="TextBox 11"/>
          <p:cNvSpPr/>
          <p:nvPr/>
        </p:nvSpPr>
        <p:spPr>
          <a:xfrm>
            <a:off x="1078920" y="30175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블록에 가해지는 힘을 제한하면서 접촉 가능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2" name="Rectangle 12"/>
          <p:cNvSpPr/>
          <p:nvPr/>
        </p:nvSpPr>
        <p:spPr>
          <a:xfrm>
            <a:off x="914400" y="351144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23" name="Rectangle 13"/>
          <p:cNvSpPr/>
          <p:nvPr/>
        </p:nvSpPr>
        <p:spPr>
          <a:xfrm>
            <a:off x="914400" y="351144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24" name="TextBox 14"/>
          <p:cNvSpPr/>
          <p:nvPr/>
        </p:nvSpPr>
        <p:spPr>
          <a:xfrm>
            <a:off x="1078920" y="356616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Spiral motion → XY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미세 오차 보정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5" name="TextBox 15"/>
          <p:cNvSpPr/>
          <p:nvPr/>
        </p:nvSpPr>
        <p:spPr>
          <a:xfrm>
            <a:off x="1078920" y="37674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나선형 탐색으로 체결 위치를 능동적으로 찾음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6" name="Rectangle 16"/>
          <p:cNvSpPr/>
          <p:nvPr/>
        </p:nvSpPr>
        <p:spPr>
          <a:xfrm>
            <a:off x="914400" y="426096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27" name="Rectangle 17"/>
          <p:cNvSpPr/>
          <p:nvPr/>
        </p:nvSpPr>
        <p:spPr>
          <a:xfrm>
            <a:off x="914400" y="426096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28" name="TextBox 18"/>
          <p:cNvSpPr/>
          <p:nvPr/>
        </p:nvSpPr>
        <p:spPr>
          <a:xfrm>
            <a:off x="1078920" y="43160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비전 기반 미세 보정보다 구현 시간 단축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9" name="TextBox 19"/>
          <p:cNvSpPr/>
          <p:nvPr/>
        </p:nvSpPr>
        <p:spPr>
          <a:xfrm>
            <a:off x="1078920" y="45172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카메라 캘리브레이션 없이 기계적 접근으로 해결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30" name="Rectangle 20"/>
          <p:cNvSpPr/>
          <p:nvPr/>
        </p:nvSpPr>
        <p:spPr>
          <a:xfrm>
            <a:off x="914400" y="501084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31" name="Rectangle 21"/>
          <p:cNvSpPr/>
          <p:nvPr/>
        </p:nvSpPr>
        <p:spPr>
          <a:xfrm>
            <a:off x="914400" y="501084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32" name="TextBox 22"/>
          <p:cNvSpPr/>
          <p:nvPr/>
        </p:nvSpPr>
        <p:spPr>
          <a:xfrm>
            <a:off x="1078920" y="5065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실제 하드웨어 데모 안정성 향상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3" name="TextBox 23"/>
          <p:cNvSpPr/>
          <p:nvPr/>
        </p:nvSpPr>
        <p:spPr>
          <a:xfrm>
            <a:off x="1078920" y="52668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반복 실험에서 체결 성공률 유의미하게 개선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34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35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27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37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robot · error-handling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38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로봇 실행 중 오류 처리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739" name="TextBox 4"/>
          <p:cNvSpPr/>
          <p:nvPr/>
        </p:nvSpPr>
        <p:spPr>
          <a:xfrm>
            <a:off x="914400" y="1965960"/>
            <a:ext cx="50425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Goal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유효성 검사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(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거부 조건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0" name="Rectangle 5"/>
          <p:cNvSpPr/>
          <p:nvPr/>
        </p:nvSpPr>
        <p:spPr>
          <a:xfrm>
            <a:off x="914400" y="233172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41" name="Rectangle 6"/>
          <p:cNvSpPr/>
          <p:nvPr/>
        </p:nvSpPr>
        <p:spPr>
          <a:xfrm>
            <a:off x="914400" y="233172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42" name="TextBox 7"/>
          <p:cNvSpPr/>
          <p:nvPr/>
        </p:nvSpPr>
        <p:spPr>
          <a:xfrm>
            <a:off x="1078920" y="2386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이미 실행 중이면 새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goal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거부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3" name="Rectangle 8"/>
          <p:cNvSpPr/>
          <p:nvPr/>
        </p:nvSpPr>
        <p:spPr>
          <a:xfrm>
            <a:off x="914400" y="289872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44" name="Rectangle 9"/>
          <p:cNvSpPr/>
          <p:nvPr/>
        </p:nvSpPr>
        <p:spPr>
          <a:xfrm>
            <a:off x="914400" y="289872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45" name="TextBox 10"/>
          <p:cNvSpPr/>
          <p:nvPr/>
        </p:nvSpPr>
        <p:spPr>
          <a:xfrm>
            <a:off x="1078920" y="2953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task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배열이 비어 있으면 거부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6" name="Rectangle 11"/>
          <p:cNvSpPr/>
          <p:nvPr/>
        </p:nvSpPr>
        <p:spPr>
          <a:xfrm>
            <a:off x="914400" y="346572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47" name="Rectangle 12"/>
          <p:cNvSpPr/>
          <p:nvPr/>
        </p:nvSpPr>
        <p:spPr>
          <a:xfrm>
            <a:off x="914400" y="346572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48" name="TextBox 13"/>
          <p:cNvSpPr/>
          <p:nvPr/>
        </p:nvSpPr>
        <p:spPr>
          <a:xfrm>
            <a:off x="1078920" y="3520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color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가 비어 있으면 거부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9" name="Rectangle 14"/>
          <p:cNvSpPr/>
          <p:nvPr/>
        </p:nvSpPr>
        <p:spPr>
          <a:xfrm>
            <a:off x="914400" y="403236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50" name="Rectangle 15"/>
          <p:cNvSpPr/>
          <p:nvPr/>
        </p:nvSpPr>
        <p:spPr>
          <a:xfrm>
            <a:off x="914400" y="403236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51" name="TextBox 16"/>
          <p:cNvSpPr/>
          <p:nvPr/>
        </p:nvSpPr>
        <p:spPr>
          <a:xfrm>
            <a:off x="1078920" y="4087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y_position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이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NaN/Inf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이면 거부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2" name="TextBox 17"/>
          <p:cNvSpPr/>
          <p:nvPr/>
        </p:nvSpPr>
        <p:spPr>
          <a:xfrm>
            <a:off x="6231600" y="1965960"/>
            <a:ext cx="50425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실패 처리 구조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3" name="Rectangle 18"/>
          <p:cNvSpPr/>
          <p:nvPr/>
        </p:nvSpPr>
        <p:spPr>
          <a:xfrm>
            <a:off x="6231600" y="233172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54" name="Rectangle 19"/>
          <p:cNvSpPr/>
          <p:nvPr/>
        </p:nvSpPr>
        <p:spPr>
          <a:xfrm>
            <a:off x="6231600" y="233172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55" name="TextBox 20"/>
          <p:cNvSpPr/>
          <p:nvPr/>
        </p:nvSpPr>
        <p:spPr>
          <a:xfrm>
            <a:off x="6396120" y="2386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예외 발생 시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action abort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6" name="Rectangle 21"/>
          <p:cNvSpPr/>
          <p:nvPr/>
        </p:nvSpPr>
        <p:spPr>
          <a:xfrm>
            <a:off x="6231600" y="289872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57" name="Rectangle 22"/>
          <p:cNvSpPr/>
          <p:nvPr/>
        </p:nvSpPr>
        <p:spPr>
          <a:xfrm>
            <a:off x="6231600" y="289872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58" name="TextBox 23"/>
          <p:cNvSpPr/>
          <p:nvPr/>
        </p:nvSpPr>
        <p:spPr>
          <a:xfrm>
            <a:off x="6396120" y="2953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실패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step + error message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반환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9" name="Rectangle 24"/>
          <p:cNvSpPr/>
          <p:nvPr/>
        </p:nvSpPr>
        <p:spPr>
          <a:xfrm>
            <a:off x="6231600" y="346572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60" name="Rectangle 25"/>
          <p:cNvSpPr/>
          <p:nvPr/>
        </p:nvSpPr>
        <p:spPr>
          <a:xfrm>
            <a:off x="6231600" y="346572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61" name="TextBox 26"/>
          <p:cNvSpPr/>
          <p:nvPr/>
        </p:nvSpPr>
        <p:spPr>
          <a:xfrm>
            <a:off x="6396120" y="3520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finally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블록에서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busy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상태 해제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2" name="Rectangle 27"/>
          <p:cNvSpPr/>
          <p:nvPr/>
        </p:nvSpPr>
        <p:spPr>
          <a:xfrm>
            <a:off x="6231600" y="4160520"/>
            <a:ext cx="5042520" cy="658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63" name="TextBox 28"/>
          <p:cNvSpPr/>
          <p:nvPr/>
        </p:nvSpPr>
        <p:spPr>
          <a:xfrm>
            <a:off x="6414480" y="4260960"/>
            <a:ext cx="4768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busy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상태 해제를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finally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로 보장 → 실패 후에도 시스템이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hung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상태가 되지 않음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4" name="TextBox 29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65" name="TextBox 30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28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67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webcam · block-check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8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웹캠 블록 검사 기능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769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70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pick pose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도달 후 블록 존재 확인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1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72" name="TextBox 7"/>
          <p:cNvSpPr/>
          <p:nvPr/>
        </p:nvSpPr>
        <p:spPr>
          <a:xfrm>
            <a:off x="1261800" y="2670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/webcam/check_block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서비스 호출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3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74" name="TextBox 9"/>
          <p:cNvSpPr/>
          <p:nvPr/>
        </p:nvSpPr>
        <p:spPr>
          <a:xfrm>
            <a:off x="1261800" y="332856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블록 검출 실패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/robot/pause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호출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5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76" name="TextBox 11"/>
          <p:cNvSpPr/>
          <p:nvPr/>
        </p:nvSpPr>
        <p:spPr>
          <a:xfrm>
            <a:off x="1261800" y="3986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사용자가 블록 보충 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resume →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재시도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7" name="Rectangle 12"/>
          <p:cNvSpPr/>
          <p:nvPr/>
        </p:nvSpPr>
        <p:spPr>
          <a:xfrm>
            <a:off x="6231600" y="2011680"/>
            <a:ext cx="504252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78" name="Rectangle 13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79" name="TextBox 14"/>
          <p:cNvSpPr/>
          <p:nvPr/>
        </p:nvSpPr>
        <p:spPr>
          <a:xfrm>
            <a:off x="6414480" y="22129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CheckBlock.srv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0" name="TextBox 15"/>
          <p:cNvSpPr/>
          <p:nvPr/>
        </p:nvSpPr>
        <p:spPr>
          <a:xfrm>
            <a:off x="6414480" y="2541960"/>
            <a:ext cx="4768200" cy="14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# Request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string block_type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string color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---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# Response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bool passed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int32 detected_circles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</a:rPr>
              <a:t>string message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1" name="Rectangle 16"/>
          <p:cNvSpPr/>
          <p:nvPr/>
        </p:nvSpPr>
        <p:spPr>
          <a:xfrm>
            <a:off x="6231600" y="4434840"/>
            <a:ext cx="5042520" cy="74952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82" name="Rectangle 17"/>
          <p:cNvSpPr/>
          <p:nvPr/>
        </p:nvSpPr>
        <p:spPr>
          <a:xfrm>
            <a:off x="6231600" y="443484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83" name="TextBox 18"/>
          <p:cNvSpPr/>
          <p:nvPr/>
        </p:nvSpPr>
        <p:spPr>
          <a:xfrm>
            <a:off x="6414480" y="46177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ee787"/>
                </a:solidFill>
                <a:latin typeface="Calibri"/>
              </a:rPr>
              <a:t>목적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4" name="TextBox 19"/>
          <p:cNvSpPr/>
          <p:nvPr/>
        </p:nvSpPr>
        <p:spPr>
          <a:xfrm>
            <a:off x="6414480" y="486468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공집기 → 연쇄 실패 방지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. abort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대신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pause +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재시도로 데모 운영성 확보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5" name="TextBox 20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86" name="TextBox 21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29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88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webcam · problems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9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웹캠 검사에서 발생한 문제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790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1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2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블록 없는데 그리퍼 닫으면 공집기 발생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3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공집기 후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place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단계 연쇄 실패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4" name="Rectangle 8"/>
          <p:cNvSpPr/>
          <p:nvPr/>
        </p:nvSpPr>
        <p:spPr>
          <a:xfrm>
            <a:off x="914400" y="301752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5" name="Rectangle 9"/>
          <p:cNvSpPr/>
          <p:nvPr/>
        </p:nvSpPr>
        <p:spPr>
          <a:xfrm>
            <a:off x="914400" y="301752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6" name="TextBox 10"/>
          <p:cNvSpPr/>
          <p:nvPr/>
        </p:nvSpPr>
        <p:spPr>
          <a:xfrm>
            <a:off x="1078920" y="30722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매번 카메라를 열고 닫으면 지연 발생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7" name="TextBox 11"/>
          <p:cNvSpPr/>
          <p:nvPr/>
        </p:nvSpPr>
        <p:spPr>
          <a:xfrm>
            <a:off x="1078920" y="32734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pick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마다 카메라 초기화 시간이 누적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8" name="Rectangle 12"/>
          <p:cNvSpPr/>
          <p:nvPr/>
        </p:nvSpPr>
        <p:spPr>
          <a:xfrm>
            <a:off x="914400" y="402336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9" name="Rectangle 13"/>
          <p:cNvSpPr/>
          <p:nvPr/>
        </p:nvSpPr>
        <p:spPr>
          <a:xfrm>
            <a:off x="914400" y="402336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00" name="TextBox 14"/>
          <p:cNvSpPr/>
          <p:nvPr/>
        </p:nvSpPr>
        <p:spPr>
          <a:xfrm>
            <a:off x="1078920" y="40780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ROS action callback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안에서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service future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대기 →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deadlock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위험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1" name="TextBox 15"/>
          <p:cNvSpPr/>
          <p:nvPr/>
        </p:nvSpPr>
        <p:spPr>
          <a:xfrm>
            <a:off x="1078920" y="42793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같은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executor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에서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service response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를 기다리면 블로킹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2" name="Rectangle 16"/>
          <p:cNvSpPr/>
          <p:nvPr/>
        </p:nvSpPr>
        <p:spPr>
          <a:xfrm>
            <a:off x="914400" y="502920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03" name="Rectangle 17"/>
          <p:cNvSpPr/>
          <p:nvPr/>
        </p:nvSpPr>
        <p:spPr>
          <a:xfrm>
            <a:off x="914400" y="502920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04" name="TextBox 18"/>
          <p:cNvSpPr/>
          <p:nvPr/>
        </p:nvSpPr>
        <p:spPr>
          <a:xfrm>
            <a:off x="1078920" y="5083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색상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·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타입별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ROI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와 원 크기가 달라 검출 조건이 다름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5" name="TextBox 19"/>
          <p:cNvSpPr/>
          <p:nvPr/>
        </p:nvSpPr>
        <p:spPr>
          <a:xfrm>
            <a:off x="1078920" y="528516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2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칸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/3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칸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색상마다 스터드 개수와 위치가 다름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6" name="TextBox 20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7" name="TextBox 21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30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09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webcam · solutions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0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웹캠 검사 해결 방식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811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12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13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카메라 한 번 열고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background thread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유지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4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최신 프레임을 항상 캐시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요청 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copy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사용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5" name="Rectangle 8"/>
          <p:cNvSpPr/>
          <p:nvPr/>
        </p:nvSpPr>
        <p:spPr>
          <a:xfrm>
            <a:off x="914400" y="276156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16" name="Rectangle 9"/>
          <p:cNvSpPr/>
          <p:nvPr/>
        </p:nvSpPr>
        <p:spPr>
          <a:xfrm>
            <a:off x="914400" y="276156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17" name="TextBox 10"/>
          <p:cNvSpPr/>
          <p:nvPr/>
        </p:nvSpPr>
        <p:spPr>
          <a:xfrm>
            <a:off x="1078920" y="28162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별도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helper node + executor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로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deadlock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방지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8" name="TextBox 11"/>
          <p:cNvSpPr/>
          <p:nvPr/>
        </p:nvSpPr>
        <p:spPr>
          <a:xfrm>
            <a:off x="1078920" y="30175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threading.Event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future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완료 대기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9" name="Rectangle 12"/>
          <p:cNvSpPr/>
          <p:nvPr/>
        </p:nvSpPr>
        <p:spPr>
          <a:xfrm>
            <a:off x="914400" y="351144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20" name="Rectangle 13"/>
          <p:cNvSpPr/>
          <p:nvPr/>
        </p:nvSpPr>
        <p:spPr>
          <a:xfrm>
            <a:off x="914400" y="351144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21" name="TextBox 14"/>
          <p:cNvSpPr/>
          <p:nvPr/>
        </p:nvSpPr>
        <p:spPr>
          <a:xfrm>
            <a:off x="1078920" y="356616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색상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·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타입별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4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점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ROI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설정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22" name="TextBox 15"/>
          <p:cNvSpPr/>
          <p:nvPr/>
        </p:nvSpPr>
        <p:spPr>
          <a:xfrm>
            <a:off x="1078920" y="37674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perspective transform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으로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ROI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정면화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23" name="Rectangle 16"/>
          <p:cNvSpPr/>
          <p:nvPr/>
        </p:nvSpPr>
        <p:spPr>
          <a:xfrm>
            <a:off x="914400" y="426096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24" name="Rectangle 17"/>
          <p:cNvSpPr/>
          <p:nvPr/>
        </p:nvSpPr>
        <p:spPr>
          <a:xfrm>
            <a:off x="914400" y="426096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25" name="TextBox 18"/>
          <p:cNvSpPr/>
          <p:nvPr/>
        </p:nvSpPr>
        <p:spPr>
          <a:xfrm>
            <a:off x="1078920" y="43160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히스토그램 평활화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+ GaussianBlur + HoughCircles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26" name="TextBox 19"/>
          <p:cNvSpPr/>
          <p:nvPr/>
        </p:nvSpPr>
        <p:spPr>
          <a:xfrm>
            <a:off x="1078920" y="45172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대비 개선 후 원 검출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.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개수가 허용 범위 안이면 통과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27" name="Rectangle 20"/>
          <p:cNvSpPr/>
          <p:nvPr/>
        </p:nvSpPr>
        <p:spPr>
          <a:xfrm>
            <a:off x="914400" y="501084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28" name="Rectangle 21"/>
          <p:cNvSpPr/>
          <p:nvPr/>
        </p:nvSpPr>
        <p:spPr>
          <a:xfrm>
            <a:off x="914400" y="501084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29" name="TextBox 22"/>
          <p:cNvSpPr/>
          <p:nvPr/>
        </p:nvSpPr>
        <p:spPr>
          <a:xfrm>
            <a:off x="1078920" y="5065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debug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이미지 저장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30" name="TextBox 23"/>
          <p:cNvSpPr/>
          <p:nvPr/>
        </p:nvSpPr>
        <p:spPr>
          <a:xfrm>
            <a:off x="1078920" y="52668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raw / warped / result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이미지로 실패 원인 추적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1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2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31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Rectangle 33"/>
          <p:cNvSpPr/>
          <p:nvPr/>
        </p:nvSpPr>
        <p:spPr>
          <a:xfrm>
            <a:off x="0" y="36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34" name="TextBox 49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d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e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s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i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g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n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· 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d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e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c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i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s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i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o</a:t>
            </a: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5" name="TextBox 50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이미지 처리 과정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836" name="TextBox 61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e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g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o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-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r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o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b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o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t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-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a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u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t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o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-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a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s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s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e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m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b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</a:t>
            </a: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7" name="TextBox 62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32 / 51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838" name="" descr=""/>
          <p:cNvPicPr/>
          <p:nvPr/>
        </p:nvPicPr>
        <p:blipFill>
          <a:blip r:embed="rId1"/>
          <a:stretch/>
        </p:blipFill>
        <p:spPr>
          <a:xfrm>
            <a:off x="914400" y="2514600"/>
            <a:ext cx="2286000" cy="2400480"/>
          </a:xfrm>
          <a:prstGeom prst="rect">
            <a:avLst/>
          </a:prstGeom>
          <a:ln w="0">
            <a:noFill/>
          </a:ln>
        </p:spPr>
      </p:pic>
      <p:pic>
        <p:nvPicPr>
          <p:cNvPr id="839" name="" descr=""/>
          <p:cNvPicPr/>
          <p:nvPr/>
        </p:nvPicPr>
        <p:blipFill>
          <a:blip r:embed="rId2"/>
          <a:stretch/>
        </p:blipFill>
        <p:spPr>
          <a:xfrm>
            <a:off x="4429440" y="2496240"/>
            <a:ext cx="2428560" cy="2532960"/>
          </a:xfrm>
          <a:prstGeom prst="rect">
            <a:avLst/>
          </a:prstGeom>
          <a:ln w="0">
            <a:noFill/>
          </a:ln>
        </p:spPr>
      </p:pic>
      <p:pic>
        <p:nvPicPr>
          <p:cNvPr id="840" name="" descr=""/>
          <p:cNvPicPr/>
          <p:nvPr/>
        </p:nvPicPr>
        <p:blipFill>
          <a:blip r:embed="rId3"/>
          <a:stretch/>
        </p:blipFill>
        <p:spPr>
          <a:xfrm>
            <a:off x="8229600" y="2524320"/>
            <a:ext cx="2428560" cy="2532960"/>
          </a:xfrm>
          <a:prstGeom prst="rect">
            <a:avLst/>
          </a:prstGeom>
          <a:ln w="0">
            <a:noFill/>
          </a:ln>
        </p:spPr>
      </p:pic>
      <p:sp>
        <p:nvSpPr>
          <p:cNvPr id="841" name="TextBox 1"/>
          <p:cNvSpPr/>
          <p:nvPr/>
        </p:nvSpPr>
        <p:spPr>
          <a:xfrm>
            <a:off x="4700520" y="2057400"/>
            <a:ext cx="2386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2.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색상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·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타입별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4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점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ROI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설정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2" name="TextBox 51"/>
          <p:cNvSpPr/>
          <p:nvPr/>
        </p:nvSpPr>
        <p:spPr>
          <a:xfrm>
            <a:off x="1371600" y="2057400"/>
            <a:ext cx="137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1.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이미지 촬영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7543800" y="2057400"/>
            <a:ext cx="43434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3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.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히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스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토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그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램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평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활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화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+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G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a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u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s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s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i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a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n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B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l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u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r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+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H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o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u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g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h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C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i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r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c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l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e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45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verification · front-camera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46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전면 카메라 검증 기능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847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48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조립 후 각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step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결과를 카메라로 확인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49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0" name="TextBox 7"/>
          <p:cNvSpPr/>
          <p:nvPr/>
        </p:nvSpPr>
        <p:spPr>
          <a:xfrm>
            <a:off x="1261800" y="2670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/vision/expected_model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기준 모델 수신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1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2" name="TextBox 9"/>
          <p:cNvSpPr/>
          <p:nvPr/>
        </p:nvSpPr>
        <p:spPr>
          <a:xfrm>
            <a:off x="1261800" y="332856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action feedback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기반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step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추적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3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4" name="TextBox 11"/>
          <p:cNvSpPr/>
          <p:nvPr/>
        </p:nvSpPr>
        <p:spPr>
          <a:xfrm>
            <a:off x="1261800" y="3986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전면 카메라 이미지에서 해당 블록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ROI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계산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5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6" name="TextBox 13"/>
          <p:cNvSpPr/>
          <p:nvPr/>
        </p:nvSpPr>
        <p:spPr>
          <a:xfrm>
            <a:off x="1261800" y="46450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색상 일치율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높이 채움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하단 채움 계산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7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8" name="TextBox 15"/>
          <p:cNvSpPr/>
          <p:nvPr/>
        </p:nvSpPr>
        <p:spPr>
          <a:xfrm>
            <a:off x="1261800" y="53035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debug overlay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발행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9" name="Rectangle 16"/>
          <p:cNvSpPr/>
          <p:nvPr/>
        </p:nvSpPr>
        <p:spPr>
          <a:xfrm>
            <a:off x="6231600" y="2011680"/>
            <a:ext cx="5042520" cy="32000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60" name="Rectangle 17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61" name="TextBox 18"/>
          <p:cNvSpPr/>
          <p:nvPr/>
        </p:nvSpPr>
        <p:spPr>
          <a:xfrm>
            <a:off x="6414480" y="22129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검증 결과 상태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2" name="TextBox 19"/>
          <p:cNvSpPr/>
          <p:nvPr/>
        </p:nvSpPr>
        <p:spPr>
          <a:xfrm>
            <a:off x="6414480" y="26060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PASS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3" name="TextBox 20"/>
          <p:cNvSpPr/>
          <p:nvPr/>
        </p:nvSpPr>
        <p:spPr>
          <a:xfrm>
            <a:off x="7740360" y="2606040"/>
            <a:ext cx="3579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정상 체결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4" name="TextBox 21"/>
          <p:cNvSpPr/>
          <p:nvPr/>
        </p:nvSpPr>
        <p:spPr>
          <a:xfrm>
            <a:off x="6414480" y="308160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FAIL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5" name="TextBox 22"/>
          <p:cNvSpPr/>
          <p:nvPr/>
        </p:nvSpPr>
        <p:spPr>
          <a:xfrm>
            <a:off x="7740360" y="3081600"/>
            <a:ext cx="3579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체결 실패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6" name="TextBox 23"/>
          <p:cNvSpPr/>
          <p:nvPr/>
        </p:nvSpPr>
        <p:spPr>
          <a:xfrm>
            <a:off x="6414480" y="355716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d2a8ff"/>
                </a:solidFill>
                <a:latin typeface="Calibri"/>
              </a:rPr>
              <a:t>UNCERTAIN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7" name="TextBox 24"/>
          <p:cNvSpPr/>
          <p:nvPr/>
        </p:nvSpPr>
        <p:spPr>
          <a:xfrm>
            <a:off x="7740360" y="3557160"/>
            <a:ext cx="3579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불확실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8" name="TextBox 25"/>
          <p:cNvSpPr/>
          <p:nvPr/>
        </p:nvSpPr>
        <p:spPr>
          <a:xfrm>
            <a:off x="6414480" y="4032360"/>
            <a:ext cx="12798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CAMERA_ERROR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9" name="TextBox 26"/>
          <p:cNvSpPr/>
          <p:nvPr/>
        </p:nvSpPr>
        <p:spPr>
          <a:xfrm>
            <a:off x="7740360" y="4032360"/>
            <a:ext cx="3579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카메라 오류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0" name="TextBox 27"/>
          <p:cNvSpPr/>
          <p:nvPr/>
        </p:nvSpPr>
        <p:spPr>
          <a:xfrm>
            <a:off x="6414480" y="450792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ROI_ERROR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1" name="TextBox 28"/>
          <p:cNvSpPr/>
          <p:nvPr/>
        </p:nvSpPr>
        <p:spPr>
          <a:xfrm>
            <a:off x="7740360" y="4507920"/>
            <a:ext cx="3579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ROI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계산 실패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2" name="TextBox 29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3" name="TextBox 30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33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75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verification · problems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76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전면 검증에서 예상된 문제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877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78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79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카메라가 조립 평면을 비스듬히 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0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단순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grid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분할 시 실제 위치와 불일치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1" name="Rectangle 8"/>
          <p:cNvSpPr/>
          <p:nvPr/>
        </p:nvSpPr>
        <p:spPr>
          <a:xfrm>
            <a:off x="914400" y="301752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82" name="Rectangle 9"/>
          <p:cNvSpPr/>
          <p:nvPr/>
        </p:nvSpPr>
        <p:spPr>
          <a:xfrm>
            <a:off x="914400" y="301752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83" name="TextBox 10"/>
          <p:cNvSpPr/>
          <p:nvPr/>
        </p:nvSpPr>
        <p:spPr>
          <a:xfrm>
            <a:off x="1078920" y="30722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조명에 따라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green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색상 인식 불안정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4" name="TextBox 11"/>
          <p:cNvSpPr/>
          <p:nvPr/>
        </p:nvSpPr>
        <p:spPr>
          <a:xfrm>
            <a:off x="1078920" y="32734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배경이나 메인보드와 혼동 가능성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5" name="Rectangle 12"/>
          <p:cNvSpPr/>
          <p:nvPr/>
        </p:nvSpPr>
        <p:spPr>
          <a:xfrm>
            <a:off x="914400" y="402336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86" name="Rectangle 13"/>
          <p:cNvSpPr/>
          <p:nvPr/>
        </p:nvSpPr>
        <p:spPr>
          <a:xfrm>
            <a:off x="914400" y="402336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87" name="TextBox 14"/>
          <p:cNvSpPr/>
          <p:nvPr/>
        </p:nvSpPr>
        <p:spPr>
          <a:xfrm>
            <a:off x="1078920" y="40780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시퀀서와 검증 노드의 분할 기준이 다르면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step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매칭 오류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8" name="TextBox 15"/>
          <p:cNvSpPr/>
          <p:nvPr/>
        </p:nvSpPr>
        <p:spPr>
          <a:xfrm>
            <a:off x="1078920" y="42793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같은 블록 계획을 두 곳에서 독립 계산하면 불일치 발생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9" name="Rectangle 16"/>
          <p:cNvSpPr/>
          <p:nvPr/>
        </p:nvSpPr>
        <p:spPr>
          <a:xfrm>
            <a:off x="914400" y="502920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90" name="Rectangle 17"/>
          <p:cNvSpPr/>
          <p:nvPr/>
        </p:nvSpPr>
        <p:spPr>
          <a:xfrm>
            <a:off x="914400" y="502920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91" name="TextBox 18"/>
          <p:cNvSpPr/>
          <p:nvPr/>
        </p:nvSpPr>
        <p:spPr>
          <a:xfrm>
            <a:off x="1078920" y="5083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블록이 살짝 보이지만 완전히 체결 안 된 경우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2" name="TextBox 19"/>
          <p:cNvSpPr/>
          <p:nvPr/>
        </p:nvSpPr>
        <p:spPr>
          <a:xfrm>
            <a:off x="1078920" y="528516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색상만으로는 완전 체결 여부 판단 어려움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93" name="TextBox 20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94" name="TextBox 21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34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9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verification · solutions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9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전면 검증 해결 방식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898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899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00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네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corner pixel → homography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적용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1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비스듬한 카메라 시점을 정면 뷰로 변환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2" name="Rectangle 8"/>
          <p:cNvSpPr/>
          <p:nvPr/>
        </p:nvSpPr>
        <p:spPr>
          <a:xfrm>
            <a:off x="914400" y="276156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03" name="Rectangle 9"/>
          <p:cNvSpPr/>
          <p:nvPr/>
        </p:nvSpPr>
        <p:spPr>
          <a:xfrm>
            <a:off x="914400" y="276156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04" name="TextBox 10"/>
          <p:cNvSpPr/>
          <p:nvPr/>
        </p:nvSpPr>
        <p:spPr>
          <a:xfrm>
            <a:off x="1078920" y="28162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각 블록 영역을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polygon ROI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로 투영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5" name="TextBox 11"/>
          <p:cNvSpPr/>
          <p:nvPr/>
        </p:nvSpPr>
        <p:spPr>
          <a:xfrm>
            <a:off x="1078920" y="30175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정확한 블록 위치에 맞는 영역 추출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6" name="Rectangle 12"/>
          <p:cNvSpPr/>
          <p:nvPr/>
        </p:nvSpPr>
        <p:spPr>
          <a:xfrm>
            <a:off x="914400" y="351144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07" name="Rectangle 13"/>
          <p:cNvSpPr/>
          <p:nvPr/>
        </p:nvSpPr>
        <p:spPr>
          <a:xfrm>
            <a:off x="914400" y="351144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08" name="TextBox 14"/>
          <p:cNvSpPr/>
          <p:nvPr/>
        </p:nvSpPr>
        <p:spPr>
          <a:xfrm>
            <a:off x="1078920" y="356616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LAB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색상 거리 기반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mask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9" name="TextBox 15"/>
          <p:cNvSpPr/>
          <p:nvPr/>
        </p:nvSpPr>
        <p:spPr>
          <a:xfrm>
            <a:off x="1078920" y="37674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green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전용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LAB threshold + HSV fallback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추가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10" name="Rectangle 16"/>
          <p:cNvSpPr/>
          <p:nvPr/>
        </p:nvSpPr>
        <p:spPr>
          <a:xfrm>
            <a:off x="914400" y="426096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11" name="Rectangle 17"/>
          <p:cNvSpPr/>
          <p:nvPr/>
        </p:nvSpPr>
        <p:spPr>
          <a:xfrm>
            <a:off x="914400" y="426096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12" name="TextBox 18"/>
          <p:cNvSpPr/>
          <p:nvPr/>
        </p:nvSpPr>
        <p:spPr>
          <a:xfrm>
            <a:off x="1078920" y="43160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다중 지표 종합 평가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13" name="TextBox 19"/>
          <p:cNvSpPr/>
          <p:nvPr/>
        </p:nvSpPr>
        <p:spPr>
          <a:xfrm>
            <a:off x="1078920" y="45172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color fraction + vertical fill + bottom fill + confidence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14" name="Rectangle 20"/>
          <p:cNvSpPr/>
          <p:nvPr/>
        </p:nvSpPr>
        <p:spPr>
          <a:xfrm>
            <a:off x="914400" y="501084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15" name="Rectangle 21"/>
          <p:cNvSpPr/>
          <p:nvPr/>
        </p:nvSpPr>
        <p:spPr>
          <a:xfrm>
            <a:off x="914400" y="501084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16" name="TextBox 22"/>
          <p:cNvSpPr/>
          <p:nvPr/>
        </p:nvSpPr>
        <p:spPr>
          <a:xfrm>
            <a:off x="1078920" y="5065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검증 노드 내부에도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Beam Search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분할 사용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17" name="TextBox 23"/>
          <p:cNvSpPr/>
          <p:nvPr/>
        </p:nvSpPr>
        <p:spPr>
          <a:xfrm>
            <a:off x="1078920" y="52668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시퀀서와 동일한 로직으로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step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매칭 일관성 확보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18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19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35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2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safety · force-monitor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외력 감지 안전 기능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923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ff7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7b72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24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ForceMonitorNode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가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DRFL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에 직접 연결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5" name="Oval 6"/>
          <p:cNvSpPr/>
          <p:nvPr/>
        </p:nvSpPr>
        <p:spPr>
          <a:xfrm>
            <a:off x="914400" y="27064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ff7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7b72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26" name="TextBox 7"/>
          <p:cNvSpPr/>
          <p:nvPr/>
        </p:nvSpPr>
        <p:spPr>
          <a:xfrm>
            <a:off x="1261800" y="2670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100 Hz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외력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polling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7" name="Oval 8"/>
          <p:cNvSpPr/>
          <p:nvPr/>
        </p:nvSpPr>
        <p:spPr>
          <a:xfrm>
            <a:off x="914400" y="33649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ff7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7b72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28" name="TextBox 9"/>
          <p:cNvSpPr/>
          <p:nvPr/>
        </p:nvSpPr>
        <p:spPr>
          <a:xfrm>
            <a:off x="1261800" y="332856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threshold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이상이면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/robot/force_detected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발행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9" name="Oval 10"/>
          <p:cNvSpPr/>
          <p:nvPr/>
        </p:nvSpPr>
        <p:spPr>
          <a:xfrm>
            <a:off x="914400" y="40233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ff7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7b72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30" name="TextBox 11"/>
          <p:cNvSpPr/>
          <p:nvPr/>
        </p:nvSpPr>
        <p:spPr>
          <a:xfrm>
            <a:off x="1261800" y="398664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BridgeNode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가 이를 받아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/robot/pause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호출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1" name="Oval 12"/>
          <p:cNvSpPr/>
          <p:nvPr/>
        </p:nvSpPr>
        <p:spPr>
          <a:xfrm>
            <a:off x="914400" y="46818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ff7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7b72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32" name="TextBox 13"/>
          <p:cNvSpPr/>
          <p:nvPr/>
        </p:nvSpPr>
        <p:spPr>
          <a:xfrm>
            <a:off x="1261800" y="46450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UI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에 외력 감지 로그 표시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3" name="Oval 14"/>
          <p:cNvSpPr/>
          <p:nvPr/>
        </p:nvSpPr>
        <p:spPr>
          <a:xfrm>
            <a:off x="914400" y="53402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ff7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ff7b72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34" name="TextBox 15"/>
          <p:cNvSpPr/>
          <p:nvPr/>
        </p:nvSpPr>
        <p:spPr>
          <a:xfrm>
            <a:off x="1261800" y="53035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현재 동작 완료 후 다음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step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진입 차단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5" name="Rectangle 16"/>
          <p:cNvSpPr/>
          <p:nvPr/>
        </p:nvSpPr>
        <p:spPr>
          <a:xfrm>
            <a:off x="6231600" y="2011680"/>
            <a:ext cx="504252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36" name="Rectangle 17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37" name="TextBox 18"/>
          <p:cNvSpPr/>
          <p:nvPr/>
        </p:nvSpPr>
        <p:spPr>
          <a:xfrm>
            <a:off x="6414480" y="22129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감지 흐름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38" name="TextBox 19"/>
          <p:cNvSpPr/>
          <p:nvPr/>
        </p:nvSpPr>
        <p:spPr>
          <a:xfrm>
            <a:off x="6414480" y="2541960"/>
            <a:ext cx="4768200" cy="10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DRFL @ 100Hz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/robot/force_detected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BridgeNode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/robot/pause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UI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알림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+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동작 중단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39" name="Rectangle 20"/>
          <p:cNvSpPr/>
          <p:nvPr/>
        </p:nvSpPr>
        <p:spPr>
          <a:xfrm>
            <a:off x="6231600" y="4434840"/>
            <a:ext cx="5042520" cy="74952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40" name="Rectangle 21"/>
          <p:cNvSpPr/>
          <p:nvPr/>
        </p:nvSpPr>
        <p:spPr>
          <a:xfrm>
            <a:off x="6231600" y="443484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41" name="TextBox 22"/>
          <p:cNvSpPr/>
          <p:nvPr/>
        </p:nvSpPr>
        <p:spPr>
          <a:xfrm>
            <a:off x="6414480" y="46177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ee787"/>
                </a:solidFill>
                <a:latin typeface="Calibri"/>
              </a:rPr>
              <a:t>노이즈 방지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2" name="TextBox 23"/>
          <p:cNvSpPr/>
          <p:nvPr/>
        </p:nvSpPr>
        <p:spPr>
          <a:xfrm>
            <a:off x="6414480" y="486468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threshold + reset count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로 순간 충격에 의한 반복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trigger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방지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3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4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36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46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design · decision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7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왜 외력 감지를 별도 노드로 분리했는가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948" name="Rectangle 4"/>
          <p:cNvSpPr/>
          <p:nvPr/>
        </p:nvSpPr>
        <p:spPr>
          <a:xfrm>
            <a:off x="914400" y="201168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49" name="Rectangle 5"/>
          <p:cNvSpPr/>
          <p:nvPr/>
        </p:nvSpPr>
        <p:spPr>
          <a:xfrm>
            <a:off x="914400" y="201168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50" name="TextBox 6"/>
          <p:cNvSpPr/>
          <p:nvPr/>
        </p:nvSpPr>
        <p:spPr>
          <a:xfrm>
            <a:off x="1078920" y="206640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로봇 이동 함수가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blocking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1" name="TextBox 7"/>
          <p:cNvSpPr/>
          <p:nvPr/>
        </p:nvSpPr>
        <p:spPr>
          <a:xfrm>
            <a:off x="1078920" y="226764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movel, movej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등은 완료될 때까지 대기하는 구조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2" name="Rectangle 8"/>
          <p:cNvSpPr/>
          <p:nvPr/>
        </p:nvSpPr>
        <p:spPr>
          <a:xfrm>
            <a:off x="914400" y="2761560"/>
            <a:ext cx="10359720" cy="47520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53" name="Rectangle 9"/>
          <p:cNvSpPr/>
          <p:nvPr/>
        </p:nvSpPr>
        <p:spPr>
          <a:xfrm>
            <a:off x="914400" y="2761560"/>
            <a:ext cx="50400" cy="4752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54" name="TextBox 10"/>
          <p:cNvSpPr/>
          <p:nvPr/>
        </p:nvSpPr>
        <p:spPr>
          <a:xfrm>
            <a:off x="1078920" y="281628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같은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executor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안에서 감지하면 반응이 늦음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5" name="TextBox 11"/>
          <p:cNvSpPr/>
          <p:nvPr/>
        </p:nvSpPr>
        <p:spPr>
          <a:xfrm>
            <a:off x="1078920" y="301752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blocking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함수 실행 중 외력 감지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callback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이 실행되지 못함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6" name="Rectangle 12"/>
          <p:cNvSpPr/>
          <p:nvPr/>
        </p:nvSpPr>
        <p:spPr>
          <a:xfrm>
            <a:off x="914400" y="351144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57" name="Rectangle 13"/>
          <p:cNvSpPr/>
          <p:nvPr/>
        </p:nvSpPr>
        <p:spPr>
          <a:xfrm>
            <a:off x="914400" y="351144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58" name="TextBox 14"/>
          <p:cNvSpPr/>
          <p:nvPr/>
        </p:nvSpPr>
        <p:spPr>
          <a:xfrm>
            <a:off x="1078920" y="356616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별도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thread +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별도 노드로 분리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9" name="TextBox 15"/>
          <p:cNvSpPr/>
          <p:nvPr/>
        </p:nvSpPr>
        <p:spPr>
          <a:xfrm>
            <a:off x="1078920" y="37674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실행 흐름과 안전 감지를 완전히 분리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. 100Hz polling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보장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0" name="Rectangle 16"/>
          <p:cNvSpPr/>
          <p:nvPr/>
        </p:nvSpPr>
        <p:spPr>
          <a:xfrm>
            <a:off x="914400" y="4260960"/>
            <a:ext cx="10359720" cy="47520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61" name="Rectangle 17"/>
          <p:cNvSpPr/>
          <p:nvPr/>
        </p:nvSpPr>
        <p:spPr>
          <a:xfrm>
            <a:off x="914400" y="4260960"/>
            <a:ext cx="50400" cy="4752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62" name="TextBox 18"/>
          <p:cNvSpPr/>
          <p:nvPr/>
        </p:nvSpPr>
        <p:spPr>
          <a:xfrm>
            <a:off x="1078920" y="431604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threshold + reset count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로 노이즈 필터링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3" name="TextBox 19"/>
          <p:cNvSpPr/>
          <p:nvPr/>
        </p:nvSpPr>
        <p:spPr>
          <a:xfrm>
            <a:off x="1078920" y="451728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순간 충격과 실제 외력을 구분 가능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4" name="Rectangle 20"/>
          <p:cNvSpPr/>
          <p:nvPr/>
        </p:nvSpPr>
        <p:spPr>
          <a:xfrm>
            <a:off x="914400" y="5010840"/>
            <a:ext cx="10359720" cy="475200"/>
          </a:xfrm>
          <a:prstGeom prst="rect">
            <a:avLst/>
          </a:prstGeom>
          <a:solidFill>
            <a:srgbClr val="0e151e"/>
          </a:solidFill>
          <a:ln>
            <a:solidFill>
              <a:srgbClr val="203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65" name="Rectangle 21"/>
          <p:cNvSpPr/>
          <p:nvPr/>
        </p:nvSpPr>
        <p:spPr>
          <a:xfrm>
            <a:off x="914400" y="5010840"/>
            <a:ext cx="50400" cy="4752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66" name="TextBox 22"/>
          <p:cNvSpPr/>
          <p:nvPr/>
        </p:nvSpPr>
        <p:spPr>
          <a:xfrm>
            <a:off x="1078920" y="5065920"/>
            <a:ext cx="1015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안전성과 디버깅 편의성 향상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7" name="TextBox 23"/>
          <p:cNvSpPr/>
          <p:nvPr/>
        </p:nvSpPr>
        <p:spPr>
          <a:xfrm>
            <a:off x="1078920" y="5266800"/>
            <a:ext cx="10158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외력 감지 로직이 독립적이어서 테스트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튜닝이 용이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8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69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37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7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robot · disassemble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7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자동 결합 해제 및 폐기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973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4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조립 완료 후 배치한 블록 목록 저장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75" name="Oval 6"/>
          <p:cNvSpPr/>
          <p:nvPr/>
        </p:nvSpPr>
        <p:spPr>
          <a:xfrm>
            <a:off x="914400" y="26150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6" name="TextBox 7"/>
          <p:cNvSpPr/>
          <p:nvPr/>
        </p:nvSpPr>
        <p:spPr>
          <a:xfrm>
            <a:off x="1261800" y="2578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역순으로 블록 제거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(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위층 → 아래층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77" name="Oval 8"/>
          <p:cNvSpPr/>
          <p:nvPr/>
        </p:nvSpPr>
        <p:spPr>
          <a:xfrm>
            <a:off x="914400" y="31820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8" name="TextBox 9"/>
          <p:cNvSpPr/>
          <p:nvPr/>
        </p:nvSpPr>
        <p:spPr>
          <a:xfrm>
            <a:off x="1261800" y="3145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상층 블록은 필요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pre-press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79" name="Oval 10"/>
          <p:cNvSpPr/>
          <p:nvPr/>
        </p:nvSpPr>
        <p:spPr>
          <a:xfrm>
            <a:off x="914400" y="37490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0" name="TextBox 11"/>
          <p:cNvSpPr/>
          <p:nvPr/>
        </p:nvSpPr>
        <p:spPr>
          <a:xfrm>
            <a:off x="1261800" y="37123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grip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spiral detach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수행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81" name="Oval 12"/>
          <p:cNvSpPr/>
          <p:nvPr/>
        </p:nvSpPr>
        <p:spPr>
          <a:xfrm>
            <a:off x="914400" y="43160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2" name="TextBox 13"/>
          <p:cNvSpPr/>
          <p:nvPr/>
        </p:nvSpPr>
        <p:spPr>
          <a:xfrm>
            <a:off x="1261800" y="42793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안전 고도까지 상승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83" name="Oval 14"/>
          <p:cNvSpPr/>
          <p:nvPr/>
        </p:nvSpPr>
        <p:spPr>
          <a:xfrm>
            <a:off x="914400" y="48830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4" name="TextBox 15"/>
          <p:cNvSpPr/>
          <p:nvPr/>
        </p:nvSpPr>
        <p:spPr>
          <a:xfrm>
            <a:off x="1261800" y="48463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폐기 바구니로 이동 →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release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85" name="Oval 16"/>
          <p:cNvSpPr/>
          <p:nvPr/>
        </p:nvSpPr>
        <p:spPr>
          <a:xfrm>
            <a:off x="914400" y="544968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6" name="TextBox 17"/>
          <p:cNvSpPr/>
          <p:nvPr/>
        </p:nvSpPr>
        <p:spPr>
          <a:xfrm>
            <a:off x="1261800" y="54133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복귀 후 반복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87" name="Rectangle 18"/>
          <p:cNvSpPr/>
          <p:nvPr/>
        </p:nvSpPr>
        <p:spPr>
          <a:xfrm>
            <a:off x="6231600" y="2011680"/>
            <a:ext cx="5042520" cy="11883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88" name="Rectangle 19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89" name="TextBox 20"/>
          <p:cNvSpPr/>
          <p:nvPr/>
        </p:nvSpPr>
        <p:spPr>
          <a:xfrm>
            <a:off x="6414480" y="221292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목적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90" name="TextBox 21"/>
          <p:cNvSpPr/>
          <p:nvPr/>
        </p:nvSpPr>
        <p:spPr>
          <a:xfrm>
            <a:off x="6414480" y="254196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반복 데모를 위한 자동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reset.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발표 중 수동 해제 없이 연속 시연 가능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91" name="Rectangle 22"/>
          <p:cNvSpPr/>
          <p:nvPr/>
        </p:nvSpPr>
        <p:spPr>
          <a:xfrm>
            <a:off x="6231600" y="3337560"/>
            <a:ext cx="5042520" cy="11883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92" name="Rectangle 23"/>
          <p:cNvSpPr/>
          <p:nvPr/>
        </p:nvSpPr>
        <p:spPr>
          <a:xfrm>
            <a:off x="6231600" y="333756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93" name="TextBox 24"/>
          <p:cNvSpPr/>
          <p:nvPr/>
        </p:nvSpPr>
        <p:spPr>
          <a:xfrm>
            <a:off x="6414480" y="3538800"/>
            <a:ext cx="476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9c0ff"/>
                </a:solidFill>
                <a:latin typeface="Calibri"/>
              </a:rPr>
              <a:t>placed_blocks </a:t>
            </a:r>
            <a:r>
              <a:rPr b="1" lang="zh-CN" sz="1200" spc="-1" strike="noStrike">
                <a:solidFill>
                  <a:srgbClr val="79c0ff"/>
                </a:solidFill>
                <a:latin typeface="Calibri"/>
              </a:rPr>
              <a:t>구조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94" name="TextBox 25"/>
          <p:cNvSpPr/>
          <p:nvPr/>
        </p:nvSpPr>
        <p:spPr>
          <a:xfrm>
            <a:off x="6414480" y="386784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조립 시 성공한 블록을 리스트에 추가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→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해제 시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reverse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 순서 보장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95" name="TextBox 2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96" name="TextBox 2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38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998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ui · structure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99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UI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구조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00" name="Rectangle 4"/>
          <p:cNvSpPr/>
          <p:nvPr/>
        </p:nvSpPr>
        <p:spPr>
          <a:xfrm>
            <a:off x="914400" y="2011680"/>
            <a:ext cx="3331080" cy="32914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01" name="Rectangle 5"/>
          <p:cNvSpPr/>
          <p:nvPr/>
        </p:nvSpPr>
        <p:spPr>
          <a:xfrm>
            <a:off x="914400" y="2011680"/>
            <a:ext cx="333108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02" name="TextBox 6"/>
          <p:cNvSpPr/>
          <p:nvPr/>
        </p:nvSpPr>
        <p:spPr>
          <a:xfrm>
            <a:off x="1051560" y="2212920"/>
            <a:ext cx="31024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79c0ff"/>
                </a:solidFill>
                <a:latin typeface="Noto Color Emoji"/>
              </a:rPr>
              <a:t>🌐</a:t>
            </a:r>
            <a:r>
              <a:rPr b="1" lang="en-US" sz="1300" spc="-1" strike="noStrike">
                <a:solidFill>
                  <a:srgbClr val="79c0ff"/>
                </a:solidFill>
                <a:latin typeface="Calibri"/>
              </a:rPr>
              <a:t> </a:t>
            </a:r>
            <a:r>
              <a:rPr b="1" lang="en-US" sz="1300" spc="-1" strike="noStrike">
                <a:solidFill>
                  <a:srgbClr val="79c0ff"/>
                </a:solidFill>
                <a:latin typeface="Calibri"/>
              </a:rPr>
              <a:t>Flask Web UI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03" name="TextBox 7"/>
          <p:cNvSpPr/>
          <p:nvPr/>
        </p:nvSpPr>
        <p:spPr>
          <a:xfrm>
            <a:off x="1051560" y="267012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이미지 업로드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04" name="TextBox 8"/>
          <p:cNvSpPr/>
          <p:nvPr/>
        </p:nvSpPr>
        <p:spPr>
          <a:xfrm>
            <a:off x="1051560" y="314568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ROI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선택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05" name="TextBox 9"/>
          <p:cNvSpPr/>
          <p:nvPr/>
        </p:nvSpPr>
        <p:spPr>
          <a:xfrm>
            <a:off x="1051560" y="362088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격자 편집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06" name="TextBox 10"/>
          <p:cNvSpPr/>
          <p:nvPr/>
        </p:nvSpPr>
        <p:spPr>
          <a:xfrm>
            <a:off x="1051560" y="409644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조립 진행률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07" name="TextBox 11"/>
          <p:cNvSpPr/>
          <p:nvPr/>
        </p:nvSpPr>
        <p:spPr>
          <a:xfrm>
            <a:off x="1051560" y="457200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pause/resume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08" name="Rectangle 12"/>
          <p:cNvSpPr/>
          <p:nvPr/>
        </p:nvSpPr>
        <p:spPr>
          <a:xfrm>
            <a:off x="4428720" y="2011680"/>
            <a:ext cx="3331080" cy="32914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09" name="Rectangle 13"/>
          <p:cNvSpPr/>
          <p:nvPr/>
        </p:nvSpPr>
        <p:spPr>
          <a:xfrm>
            <a:off x="4428720" y="2011680"/>
            <a:ext cx="333108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10" name="TextBox 14"/>
          <p:cNvSpPr/>
          <p:nvPr/>
        </p:nvSpPr>
        <p:spPr>
          <a:xfrm>
            <a:off x="4565880" y="2212920"/>
            <a:ext cx="31024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7ee787"/>
                </a:solidFill>
                <a:latin typeface="Noto Color Emoji"/>
              </a:rPr>
              <a:t>🖥️</a:t>
            </a:r>
            <a:r>
              <a:rPr b="1" lang="en-US" sz="1300" spc="-1" strike="noStrike">
                <a:solidFill>
                  <a:srgbClr val="7ee787"/>
                </a:solidFill>
                <a:latin typeface="Calibri"/>
              </a:rPr>
              <a:t> </a:t>
            </a:r>
            <a:r>
              <a:rPr b="1" lang="en-US" sz="1300" spc="-1" strike="noStrike">
                <a:solidFill>
                  <a:srgbClr val="7ee787"/>
                </a:solidFill>
                <a:latin typeface="Calibri"/>
              </a:rPr>
              <a:t>Qt Desktop UI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11" name="TextBox 15"/>
          <p:cNvSpPr/>
          <p:nvPr/>
        </p:nvSpPr>
        <p:spPr>
          <a:xfrm>
            <a:off x="4565880" y="267012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Flask + SocketIO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서버 접속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2" name="TextBox 16"/>
          <p:cNvSpPr/>
          <p:nvPr/>
        </p:nvSpPr>
        <p:spPr>
          <a:xfrm>
            <a:off x="4565880" y="314568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데스크탑 환경에서 동일한 흐름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3" name="TextBox 17"/>
          <p:cNvSpPr/>
          <p:nvPr/>
        </p:nvSpPr>
        <p:spPr>
          <a:xfrm>
            <a:off x="4565880" y="362088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PySide6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기반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4" name="Rectangle 18"/>
          <p:cNvSpPr/>
          <p:nvPr/>
        </p:nvSpPr>
        <p:spPr>
          <a:xfrm>
            <a:off x="7943040" y="2011680"/>
            <a:ext cx="3331080" cy="329148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15" name="Rectangle 19"/>
          <p:cNvSpPr/>
          <p:nvPr/>
        </p:nvSpPr>
        <p:spPr>
          <a:xfrm>
            <a:off x="7943040" y="2011680"/>
            <a:ext cx="333108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16" name="TextBox 20"/>
          <p:cNvSpPr/>
          <p:nvPr/>
        </p:nvSpPr>
        <p:spPr>
          <a:xfrm>
            <a:off x="8080200" y="2212920"/>
            <a:ext cx="31024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d2a8ff"/>
                </a:solidFill>
                <a:latin typeface="Noto Color Emoji"/>
              </a:rPr>
              <a:t>🔗</a:t>
            </a:r>
            <a:r>
              <a:rPr b="1" lang="en-US" sz="1300" spc="-1" strike="noStrike">
                <a:solidFill>
                  <a:srgbClr val="d2a8ff"/>
                </a:solidFill>
                <a:latin typeface="Calibri"/>
              </a:rPr>
              <a:t> </a:t>
            </a:r>
            <a:r>
              <a:rPr b="1" lang="en-US" sz="1300" spc="-1" strike="noStrike">
                <a:solidFill>
                  <a:srgbClr val="d2a8ff"/>
                </a:solidFill>
                <a:latin typeface="Calibri"/>
              </a:rPr>
              <a:t>BridgeNode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17" name="TextBox 21"/>
          <p:cNvSpPr/>
          <p:nvPr/>
        </p:nvSpPr>
        <p:spPr>
          <a:xfrm>
            <a:off x="8080200" y="267012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UI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이벤트 →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ROS2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서비스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/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액션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8" name="TextBox 22"/>
          <p:cNvSpPr/>
          <p:nvPr/>
        </p:nvSpPr>
        <p:spPr>
          <a:xfrm>
            <a:off x="8080200" y="314568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ROS2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결과 →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UI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이벤트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9" name="TextBox 23"/>
          <p:cNvSpPr/>
          <p:nvPr/>
        </p:nvSpPr>
        <p:spPr>
          <a:xfrm>
            <a:off x="8080200" y="362088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▸ 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SocketIO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중계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20" name="Rectangle 24"/>
          <p:cNvSpPr/>
          <p:nvPr/>
        </p:nvSpPr>
        <p:spPr>
          <a:xfrm>
            <a:off x="914400" y="5486400"/>
            <a:ext cx="10359720" cy="658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21" name="TextBox 25"/>
          <p:cNvSpPr/>
          <p:nvPr/>
        </p:nvSpPr>
        <p:spPr>
          <a:xfrm>
            <a:off x="1097280" y="5623560"/>
            <a:ext cx="999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Flask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앱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: / (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업로드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) · /edit (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격자 편집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) · /progress (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실행 모니터링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). SocketIO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 실시간 이벤트 중계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22" name="TextBox 2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23" name="TextBox 2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39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25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bridge · node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6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BridgeNode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역할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27" name="Oval 4"/>
          <p:cNvSpPr/>
          <p:nvPr/>
        </p:nvSpPr>
        <p:spPr>
          <a:xfrm>
            <a:off x="9144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28" name="TextBox 5"/>
          <p:cNvSpPr/>
          <p:nvPr/>
        </p:nvSpPr>
        <p:spPr>
          <a:xfrm>
            <a:off x="12618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이미지 업로드 이벤트 수신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29" name="Oval 6"/>
          <p:cNvSpPr/>
          <p:nvPr/>
        </p:nvSpPr>
        <p:spPr>
          <a:xfrm>
            <a:off x="914400" y="26701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30" name="TextBox 7"/>
          <p:cNvSpPr/>
          <p:nvPr/>
        </p:nvSpPr>
        <p:spPr>
          <a:xfrm>
            <a:off x="1261800" y="26334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/image/analyze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서비스 호출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1" name="Oval 8"/>
          <p:cNvSpPr/>
          <p:nvPr/>
        </p:nvSpPr>
        <p:spPr>
          <a:xfrm>
            <a:off x="914400" y="32918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32" name="TextBox 9"/>
          <p:cNvSpPr/>
          <p:nvPr/>
        </p:nvSpPr>
        <p:spPr>
          <a:xfrm>
            <a:off x="1261800" y="3255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사용자 수정 색상 반영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3" name="Oval 10"/>
          <p:cNvSpPr/>
          <p:nvPr/>
        </p:nvSpPr>
        <p:spPr>
          <a:xfrm>
            <a:off x="914400" y="39135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34" name="TextBox 11"/>
          <p:cNvSpPr/>
          <p:nvPr/>
        </p:nvSpPr>
        <p:spPr>
          <a:xfrm>
            <a:off x="1261800" y="38772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/sequence/plan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서비스 호출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5" name="Oval 12"/>
          <p:cNvSpPr/>
          <p:nvPr/>
        </p:nvSpPr>
        <p:spPr>
          <a:xfrm>
            <a:off x="6231600" y="204840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36" name="TextBox 13"/>
          <p:cNvSpPr/>
          <p:nvPr/>
        </p:nvSpPr>
        <p:spPr>
          <a:xfrm>
            <a:off x="6579000" y="201168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/execute_queue action goal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전송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7" name="Oval 14"/>
          <p:cNvSpPr/>
          <p:nvPr/>
        </p:nvSpPr>
        <p:spPr>
          <a:xfrm>
            <a:off x="6231600" y="267012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38" name="TextBox 15"/>
          <p:cNvSpPr/>
          <p:nvPr/>
        </p:nvSpPr>
        <p:spPr>
          <a:xfrm>
            <a:off x="6579000" y="26334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action feedback → UI progress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변환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9" name="Oval 16"/>
          <p:cNvSpPr/>
          <p:nvPr/>
        </p:nvSpPr>
        <p:spPr>
          <a:xfrm>
            <a:off x="6231600" y="329184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40" name="TextBox 17"/>
          <p:cNvSpPr/>
          <p:nvPr/>
        </p:nvSpPr>
        <p:spPr>
          <a:xfrm>
            <a:off x="6579000" y="325512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오류 발생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UI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에 전송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41" name="Oval 18"/>
          <p:cNvSpPr/>
          <p:nvPr/>
        </p:nvSpPr>
        <p:spPr>
          <a:xfrm>
            <a:off x="6231600" y="3913560"/>
            <a:ext cx="273960" cy="27396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7ee7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7ee787"/>
                </a:solidFill>
                <a:latin typeface="Calibri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42" name="TextBox 19"/>
          <p:cNvSpPr/>
          <p:nvPr/>
        </p:nvSpPr>
        <p:spPr>
          <a:xfrm>
            <a:off x="6579000" y="3877200"/>
            <a:ext cx="4676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pause/resume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이벤트 →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/robot/pause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43" name="Rectangle 20"/>
          <p:cNvSpPr/>
          <p:nvPr/>
        </p:nvSpPr>
        <p:spPr>
          <a:xfrm>
            <a:off x="914400" y="4572000"/>
            <a:ext cx="10359720" cy="658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44" name="TextBox 21"/>
          <p:cNvSpPr/>
          <p:nvPr/>
        </p:nvSpPr>
        <p:spPr>
          <a:xfrm>
            <a:off x="1097280" y="4709160"/>
            <a:ext cx="999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BridgeNode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는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UI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와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ROS2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사이의 중계 계층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 UI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이벤트를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ROS2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서비스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·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액션 호출로 변환하고 결과를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SocketIO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로 브로드캐스트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45" name="TextBox 22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6" name="TextBox 23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40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48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system · data-flow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9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데이터 흐름 정리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50" name="Rectangle 4"/>
          <p:cNvSpPr/>
          <p:nvPr/>
        </p:nvSpPr>
        <p:spPr>
          <a:xfrm>
            <a:off x="914400" y="2011680"/>
            <a:ext cx="320904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51" name="Rectangle 5"/>
          <p:cNvSpPr/>
          <p:nvPr/>
        </p:nvSpPr>
        <p:spPr>
          <a:xfrm>
            <a:off x="914400" y="2011680"/>
            <a:ext cx="320904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52" name="TextBox 6"/>
          <p:cNvSpPr/>
          <p:nvPr/>
        </p:nvSpPr>
        <p:spPr>
          <a:xfrm>
            <a:off x="1024200" y="2212920"/>
            <a:ext cx="3026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9c0ff"/>
                </a:solidFill>
                <a:latin typeface="Calibri"/>
              </a:rPr>
              <a:t>BROWSER / Qt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53" name="TextBox 7"/>
          <p:cNvSpPr/>
          <p:nvPr/>
        </p:nvSpPr>
        <p:spPr>
          <a:xfrm>
            <a:off x="1024200" y="256032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image upload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4" name="TextBox 8"/>
          <p:cNvSpPr/>
          <p:nvPr/>
        </p:nvSpPr>
        <p:spPr>
          <a:xfrm>
            <a:off x="1024200" y="296280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grid edit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5" name="TextBox 9"/>
          <p:cNvSpPr/>
          <p:nvPr/>
        </p:nvSpPr>
        <p:spPr>
          <a:xfrm>
            <a:off x="1024200" y="336492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start assembly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6" name="TextBox 10"/>
          <p:cNvSpPr/>
          <p:nvPr/>
        </p:nvSpPr>
        <p:spPr>
          <a:xfrm>
            <a:off x="1024200" y="376740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pause/resume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7" name="TextBox 11"/>
          <p:cNvSpPr/>
          <p:nvPr/>
        </p:nvSpPr>
        <p:spPr>
          <a:xfrm>
            <a:off x="4169520" y="3063240"/>
            <a:ext cx="273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6e7681"/>
                </a:solidFill>
                <a:latin typeface="Calibri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58" name="Rectangle 12"/>
          <p:cNvSpPr/>
          <p:nvPr/>
        </p:nvSpPr>
        <p:spPr>
          <a:xfrm>
            <a:off x="4489560" y="2011680"/>
            <a:ext cx="320904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59" name="Rectangle 13"/>
          <p:cNvSpPr/>
          <p:nvPr/>
        </p:nvSpPr>
        <p:spPr>
          <a:xfrm>
            <a:off x="4489560" y="2011680"/>
            <a:ext cx="320904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60" name="TextBox 14"/>
          <p:cNvSpPr/>
          <p:nvPr/>
        </p:nvSpPr>
        <p:spPr>
          <a:xfrm>
            <a:off x="4599360" y="2212920"/>
            <a:ext cx="3026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d2a8ff"/>
                </a:solidFill>
                <a:latin typeface="Calibri"/>
              </a:rPr>
              <a:t>FLASK + BRIDGE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61" name="TextBox 15"/>
          <p:cNvSpPr/>
          <p:nvPr/>
        </p:nvSpPr>
        <p:spPr>
          <a:xfrm>
            <a:off x="4599360" y="256032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SocketIO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중계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62" name="TextBox 16"/>
          <p:cNvSpPr/>
          <p:nvPr/>
        </p:nvSpPr>
        <p:spPr>
          <a:xfrm>
            <a:off x="4599360" y="296280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ROS2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호출 변환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63" name="TextBox 17"/>
          <p:cNvSpPr/>
          <p:nvPr/>
        </p:nvSpPr>
        <p:spPr>
          <a:xfrm>
            <a:off x="7745040" y="3063240"/>
            <a:ext cx="273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6e7681"/>
                </a:solidFill>
                <a:latin typeface="Calibri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64" name="Rectangle 18"/>
          <p:cNvSpPr/>
          <p:nvPr/>
        </p:nvSpPr>
        <p:spPr>
          <a:xfrm>
            <a:off x="8065080" y="2011680"/>
            <a:ext cx="3209040" cy="228564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65" name="Rectangle 19"/>
          <p:cNvSpPr/>
          <p:nvPr/>
        </p:nvSpPr>
        <p:spPr>
          <a:xfrm>
            <a:off x="8065080" y="2011680"/>
            <a:ext cx="320904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66" name="TextBox 20"/>
          <p:cNvSpPr/>
          <p:nvPr/>
        </p:nvSpPr>
        <p:spPr>
          <a:xfrm>
            <a:off x="8174880" y="2212920"/>
            <a:ext cx="3026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ROS2 NODES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67" name="TextBox 21"/>
          <p:cNvSpPr/>
          <p:nvPr/>
        </p:nvSpPr>
        <p:spPr>
          <a:xfrm>
            <a:off x="8174880" y="256032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image analyze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68" name="TextBox 22"/>
          <p:cNvSpPr/>
          <p:nvPr/>
        </p:nvSpPr>
        <p:spPr>
          <a:xfrm>
            <a:off x="8174880" y="296280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sequence plan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69" name="TextBox 23"/>
          <p:cNvSpPr/>
          <p:nvPr/>
        </p:nvSpPr>
        <p:spPr>
          <a:xfrm>
            <a:off x="8174880" y="336492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robot execution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0" name="TextBox 24"/>
          <p:cNvSpPr/>
          <p:nvPr/>
        </p:nvSpPr>
        <p:spPr>
          <a:xfrm>
            <a:off x="8174880" y="3767400"/>
            <a:ext cx="3026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verification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1" name="Rectangle 25"/>
          <p:cNvSpPr/>
          <p:nvPr/>
        </p:nvSpPr>
        <p:spPr>
          <a:xfrm>
            <a:off x="914400" y="4572000"/>
            <a:ext cx="10359720" cy="658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72" name="Rectangle 26"/>
          <p:cNvSpPr/>
          <p:nvPr/>
        </p:nvSpPr>
        <p:spPr>
          <a:xfrm>
            <a:off x="914400" y="4572000"/>
            <a:ext cx="103597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73" name="TextBox 27"/>
          <p:cNvSpPr/>
          <p:nvPr/>
        </p:nvSpPr>
        <p:spPr>
          <a:xfrm>
            <a:off x="1097280" y="4736520"/>
            <a:ext cx="999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←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역방향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: analysis result · block plan · progress · done/error log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74" name="TextBox 28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75" name="TextBox 29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41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77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troubleshooting · 01 / 05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8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주요 트러블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1: ROS2 Deadlock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위험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79" name="TextBox 4"/>
          <p:cNvSpPr/>
          <p:nvPr/>
        </p:nvSpPr>
        <p:spPr>
          <a:xfrm>
            <a:off x="9144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7b72"/>
                </a:solidFill>
                <a:latin typeface="Calibri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0" name="Rectangle 5"/>
          <p:cNvSpPr/>
          <p:nvPr/>
        </p:nvSpPr>
        <p:spPr>
          <a:xfrm>
            <a:off x="914400" y="2240280"/>
            <a:ext cx="5042520" cy="1462680"/>
          </a:xfrm>
          <a:prstGeom prst="rect">
            <a:avLst/>
          </a:prstGeom>
          <a:solidFill>
            <a:srgbClr val="1a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81" name="Rectangle 6"/>
          <p:cNvSpPr/>
          <p:nvPr/>
        </p:nvSpPr>
        <p:spPr>
          <a:xfrm>
            <a:off x="914400" y="2240280"/>
            <a:ext cx="50400" cy="146268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82" name="TextBox 7"/>
          <p:cNvSpPr/>
          <p:nvPr/>
        </p:nvSpPr>
        <p:spPr>
          <a:xfrm>
            <a:off x="1097280" y="2395800"/>
            <a:ext cx="47682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action callback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안에서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service future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를 잘못 기다리면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deadlock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가능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로봇 실행이 완전히 멈춤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3" name="TextBox 8"/>
          <p:cNvSpPr/>
          <p:nvPr/>
        </p:nvSpPr>
        <p:spPr>
          <a:xfrm>
            <a:off x="62316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SOLUTION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4" name="Rectangle 9"/>
          <p:cNvSpPr/>
          <p:nvPr/>
        </p:nvSpPr>
        <p:spPr>
          <a:xfrm>
            <a:off x="6231600" y="2240280"/>
            <a:ext cx="5042520" cy="146268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85" name="Rectangle 10"/>
          <p:cNvSpPr/>
          <p:nvPr/>
        </p:nvSpPr>
        <p:spPr>
          <a:xfrm>
            <a:off x="6231600" y="2240280"/>
            <a:ext cx="50400" cy="146268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86" name="TextBox 11"/>
          <p:cNvSpPr/>
          <p:nvPr/>
        </p:nvSpPr>
        <p:spPr>
          <a:xfrm>
            <a:off x="6414480" y="2395800"/>
            <a:ext cx="47682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웹캠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service client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를 별도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helper node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와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executor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분리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future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완료는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threading.Event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로 대기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7" name="Rectangle 12"/>
          <p:cNvSpPr/>
          <p:nvPr/>
        </p:nvSpPr>
        <p:spPr>
          <a:xfrm>
            <a:off x="6231600" y="3840480"/>
            <a:ext cx="5042520" cy="1325520"/>
          </a:xfrm>
          <a:prstGeom prst="rect">
            <a:avLst/>
          </a:prstGeom>
          <a:solidFill>
            <a:srgbClr val="0e15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88" name="Rectangle 13"/>
          <p:cNvSpPr/>
          <p:nvPr/>
        </p:nvSpPr>
        <p:spPr>
          <a:xfrm>
            <a:off x="6231600" y="3840480"/>
            <a:ext cx="50400" cy="132552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89" name="TextBox 14"/>
          <p:cNvSpPr/>
          <p:nvPr/>
        </p:nvSpPr>
        <p:spPr>
          <a:xfrm>
            <a:off x="6414480" y="40050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9c0ff"/>
                </a:solidFill>
                <a:latin typeface="Calibri"/>
              </a:rPr>
              <a:t>선택 이유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0" name="TextBox 15"/>
          <p:cNvSpPr/>
          <p:nvPr/>
        </p:nvSpPr>
        <p:spPr>
          <a:xfrm>
            <a:off x="6414480" y="4316040"/>
            <a:ext cx="47682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구조가 복잡해지지만 로봇 실행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callback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과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service response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처리를 완전히 분리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실제 실행 중 멈춤 현상 예방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91" name="TextBox 1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92" name="TextBox 1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42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94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troubleshooting · 02 / 05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5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주요 트러블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2: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초록색 인식 불안정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96" name="TextBox 4"/>
          <p:cNvSpPr/>
          <p:nvPr/>
        </p:nvSpPr>
        <p:spPr>
          <a:xfrm>
            <a:off x="9144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7b72"/>
                </a:solidFill>
                <a:latin typeface="Calibri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97" name="Rectangle 5"/>
          <p:cNvSpPr/>
          <p:nvPr/>
        </p:nvSpPr>
        <p:spPr>
          <a:xfrm>
            <a:off x="914400" y="2240280"/>
            <a:ext cx="5042520" cy="1462680"/>
          </a:xfrm>
          <a:prstGeom prst="rect">
            <a:avLst/>
          </a:prstGeom>
          <a:solidFill>
            <a:srgbClr val="1a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98" name="Rectangle 6"/>
          <p:cNvSpPr/>
          <p:nvPr/>
        </p:nvSpPr>
        <p:spPr>
          <a:xfrm>
            <a:off x="914400" y="2240280"/>
            <a:ext cx="50400" cy="146268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99" name="TextBox 7"/>
          <p:cNvSpPr/>
          <p:nvPr/>
        </p:nvSpPr>
        <p:spPr>
          <a:xfrm>
            <a:off x="1097280" y="2395800"/>
            <a:ext cx="47682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조명과 카메라 조건에 따라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green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 배경 또는 메인보드 색상과 혼동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green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블록 미검출 또는 오검출 발생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00" name="TextBox 8"/>
          <p:cNvSpPr/>
          <p:nvPr/>
        </p:nvSpPr>
        <p:spPr>
          <a:xfrm>
            <a:off x="62316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SOLUTION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1" name="Rectangle 9"/>
          <p:cNvSpPr/>
          <p:nvPr/>
        </p:nvSpPr>
        <p:spPr>
          <a:xfrm>
            <a:off x="6231600" y="2240280"/>
            <a:ext cx="5042520" cy="146268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02" name="Rectangle 10"/>
          <p:cNvSpPr/>
          <p:nvPr/>
        </p:nvSpPr>
        <p:spPr>
          <a:xfrm>
            <a:off x="6231600" y="2240280"/>
            <a:ext cx="50400" cy="146268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03" name="TextBox 11"/>
          <p:cNvSpPr/>
          <p:nvPr/>
        </p:nvSpPr>
        <p:spPr>
          <a:xfrm>
            <a:off x="6414480" y="2395800"/>
            <a:ext cx="47682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green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전용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LAB threshold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확대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HSV fallback mask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추가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green_min_color_fraction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별도 설정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04" name="Rectangle 12"/>
          <p:cNvSpPr/>
          <p:nvPr/>
        </p:nvSpPr>
        <p:spPr>
          <a:xfrm>
            <a:off x="6231600" y="3840480"/>
            <a:ext cx="5042520" cy="1325520"/>
          </a:xfrm>
          <a:prstGeom prst="rect">
            <a:avLst/>
          </a:prstGeom>
          <a:solidFill>
            <a:srgbClr val="0e15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05" name="Rectangle 13"/>
          <p:cNvSpPr/>
          <p:nvPr/>
        </p:nvSpPr>
        <p:spPr>
          <a:xfrm>
            <a:off x="6231600" y="3840480"/>
            <a:ext cx="50400" cy="132552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06" name="TextBox 14"/>
          <p:cNvSpPr/>
          <p:nvPr/>
        </p:nvSpPr>
        <p:spPr>
          <a:xfrm>
            <a:off x="6414480" y="40050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9c0ff"/>
                </a:solidFill>
                <a:latin typeface="Calibri"/>
              </a:rPr>
              <a:t>선택 이유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7" name="TextBox 15"/>
          <p:cNvSpPr/>
          <p:nvPr/>
        </p:nvSpPr>
        <p:spPr>
          <a:xfrm>
            <a:off x="6414480" y="431604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전체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threshold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를 높이면 다른 색상 오검출 증가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green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만 별도 보정하는 것이 부작용이 가장 작음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08" name="TextBox 1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9" name="TextBox 1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43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11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troubleshooting · 03 / 05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12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주요 트러블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3: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블록 누락으로 인한 허공집기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13" name="TextBox 4"/>
          <p:cNvSpPr/>
          <p:nvPr/>
        </p:nvSpPr>
        <p:spPr>
          <a:xfrm>
            <a:off x="9144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7b72"/>
                </a:solidFill>
                <a:latin typeface="Calibri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4" name="Rectangle 5"/>
          <p:cNvSpPr/>
          <p:nvPr/>
        </p:nvSpPr>
        <p:spPr>
          <a:xfrm>
            <a:off x="914400" y="2240280"/>
            <a:ext cx="5042520" cy="1462680"/>
          </a:xfrm>
          <a:prstGeom prst="rect">
            <a:avLst/>
          </a:prstGeom>
          <a:solidFill>
            <a:srgbClr val="1a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15" name="Rectangle 6"/>
          <p:cNvSpPr/>
          <p:nvPr/>
        </p:nvSpPr>
        <p:spPr>
          <a:xfrm>
            <a:off x="914400" y="2240280"/>
            <a:ext cx="50400" cy="146268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16" name="TextBox 7"/>
          <p:cNvSpPr/>
          <p:nvPr/>
        </p:nvSpPr>
        <p:spPr>
          <a:xfrm>
            <a:off x="1097280" y="2395800"/>
            <a:ext cx="4768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트레이에 블록이 없으면 그리퍼가 허공을 집음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이후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place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단계에서 전체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sequence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실패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17" name="TextBox 8"/>
          <p:cNvSpPr/>
          <p:nvPr/>
        </p:nvSpPr>
        <p:spPr>
          <a:xfrm>
            <a:off x="62316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SOLUTION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8" name="Rectangle 9"/>
          <p:cNvSpPr/>
          <p:nvPr/>
        </p:nvSpPr>
        <p:spPr>
          <a:xfrm>
            <a:off x="6231600" y="2240280"/>
            <a:ext cx="5042520" cy="146268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19" name="Rectangle 10"/>
          <p:cNvSpPr/>
          <p:nvPr/>
        </p:nvSpPr>
        <p:spPr>
          <a:xfrm>
            <a:off x="6231600" y="2240280"/>
            <a:ext cx="50400" cy="146268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20" name="TextBox 11"/>
          <p:cNvSpPr/>
          <p:nvPr/>
        </p:nvSpPr>
        <p:spPr>
          <a:xfrm>
            <a:off x="6414480" y="2395800"/>
            <a:ext cx="4768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pick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직전 웹캠 검사 실패 시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pause.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사용자가 블록 보충 후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resume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하면 해당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task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재시도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21" name="Rectangle 12"/>
          <p:cNvSpPr/>
          <p:nvPr/>
        </p:nvSpPr>
        <p:spPr>
          <a:xfrm>
            <a:off x="6231600" y="3840480"/>
            <a:ext cx="5042520" cy="1325520"/>
          </a:xfrm>
          <a:prstGeom prst="rect">
            <a:avLst/>
          </a:prstGeom>
          <a:solidFill>
            <a:srgbClr val="0e15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22" name="Rectangle 13"/>
          <p:cNvSpPr/>
          <p:nvPr/>
        </p:nvSpPr>
        <p:spPr>
          <a:xfrm>
            <a:off x="6231600" y="3840480"/>
            <a:ext cx="50400" cy="132552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23" name="TextBox 14"/>
          <p:cNvSpPr/>
          <p:nvPr/>
        </p:nvSpPr>
        <p:spPr>
          <a:xfrm>
            <a:off x="6414480" y="40050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9c0ff"/>
                </a:solidFill>
                <a:latin typeface="Calibri"/>
              </a:rPr>
              <a:t>선택 이유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4" name="TextBox 15"/>
          <p:cNvSpPr/>
          <p:nvPr/>
        </p:nvSpPr>
        <p:spPr>
          <a:xfrm>
            <a:off x="6414480" y="431604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즉시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abort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보다 데모 운영성이 좋음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허공집기 이후 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place </a:t>
            </a: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실패를 사전에 차단해 연쇄 실패 방지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5" name="TextBox 1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26" name="TextBox 1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44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28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troubleshooting · 04 / 05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9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주요 트러블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4: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조립 위치 미세 오차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30" name="TextBox 4"/>
          <p:cNvSpPr/>
          <p:nvPr/>
        </p:nvSpPr>
        <p:spPr>
          <a:xfrm>
            <a:off x="9144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7b72"/>
                </a:solidFill>
                <a:latin typeface="Calibri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31" name="Rectangle 5"/>
          <p:cNvSpPr/>
          <p:nvPr/>
        </p:nvSpPr>
        <p:spPr>
          <a:xfrm>
            <a:off x="914400" y="2240280"/>
            <a:ext cx="5042520" cy="1462680"/>
          </a:xfrm>
          <a:prstGeom prst="rect">
            <a:avLst/>
          </a:prstGeom>
          <a:solidFill>
            <a:srgbClr val="1a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32" name="Rectangle 6"/>
          <p:cNvSpPr/>
          <p:nvPr/>
        </p:nvSpPr>
        <p:spPr>
          <a:xfrm>
            <a:off x="914400" y="2240280"/>
            <a:ext cx="50400" cy="146268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33" name="TextBox 7"/>
          <p:cNvSpPr/>
          <p:nvPr/>
        </p:nvSpPr>
        <p:spPr>
          <a:xfrm>
            <a:off x="1097280" y="2395800"/>
            <a:ext cx="4768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레고 체결은 작은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XY/Z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오차에도 실패 가능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고정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Z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하강만으로는 체결 성공률이 낮음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34" name="TextBox 8"/>
          <p:cNvSpPr/>
          <p:nvPr/>
        </p:nvSpPr>
        <p:spPr>
          <a:xfrm>
            <a:off x="62316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SOLUTION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35" name="Rectangle 9"/>
          <p:cNvSpPr/>
          <p:nvPr/>
        </p:nvSpPr>
        <p:spPr>
          <a:xfrm>
            <a:off x="6231600" y="2240280"/>
            <a:ext cx="5042520" cy="146268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36" name="Rectangle 10"/>
          <p:cNvSpPr/>
          <p:nvPr/>
        </p:nvSpPr>
        <p:spPr>
          <a:xfrm>
            <a:off x="6231600" y="2240280"/>
            <a:ext cx="50400" cy="146268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37" name="TextBox 11"/>
          <p:cNvSpPr/>
          <p:nvPr/>
        </p:nvSpPr>
        <p:spPr>
          <a:xfrm>
            <a:off x="6414480" y="2395800"/>
            <a:ext cx="4768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force compliance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하강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+ spiral motion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보조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+ stack index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기반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Z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높이 계산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38" name="Rectangle 12"/>
          <p:cNvSpPr/>
          <p:nvPr/>
        </p:nvSpPr>
        <p:spPr>
          <a:xfrm>
            <a:off x="6231600" y="3840480"/>
            <a:ext cx="5042520" cy="1325520"/>
          </a:xfrm>
          <a:prstGeom prst="rect">
            <a:avLst/>
          </a:prstGeom>
          <a:solidFill>
            <a:srgbClr val="0e15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39" name="Rectangle 13"/>
          <p:cNvSpPr/>
          <p:nvPr/>
        </p:nvSpPr>
        <p:spPr>
          <a:xfrm>
            <a:off x="6231600" y="3840480"/>
            <a:ext cx="50400" cy="132552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40" name="TextBox 14"/>
          <p:cNvSpPr/>
          <p:nvPr/>
        </p:nvSpPr>
        <p:spPr>
          <a:xfrm>
            <a:off x="6414480" y="40050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9c0ff"/>
                </a:solidFill>
                <a:latin typeface="Calibri"/>
              </a:rPr>
              <a:t>선택 이유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1" name="TextBox 15"/>
          <p:cNvSpPr/>
          <p:nvPr/>
        </p:nvSpPr>
        <p:spPr>
          <a:xfrm>
            <a:off x="6414480" y="431604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비전으로 모든 미세 오차를 보정하는 것보다 구현 시간이 짧음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실제 하드웨어에서 체결 성공률 향상에 직접적 효과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42" name="TextBox 1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3" name="TextBox 1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45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45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troubleshooting · 05 / 05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6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주요 트러블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5: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비전 결과 </a:t>
            </a: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100% </a:t>
            </a: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신뢰 불가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47" name="TextBox 4"/>
          <p:cNvSpPr/>
          <p:nvPr/>
        </p:nvSpPr>
        <p:spPr>
          <a:xfrm>
            <a:off x="9144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7b72"/>
                </a:solidFill>
                <a:latin typeface="Calibri"/>
              </a:rPr>
              <a:t>PROBLEM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8" name="Rectangle 5"/>
          <p:cNvSpPr/>
          <p:nvPr/>
        </p:nvSpPr>
        <p:spPr>
          <a:xfrm>
            <a:off x="914400" y="2240280"/>
            <a:ext cx="5042520" cy="1462680"/>
          </a:xfrm>
          <a:prstGeom prst="rect">
            <a:avLst/>
          </a:prstGeom>
          <a:solidFill>
            <a:srgbClr val="1a10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49" name="Rectangle 6"/>
          <p:cNvSpPr/>
          <p:nvPr/>
        </p:nvSpPr>
        <p:spPr>
          <a:xfrm>
            <a:off x="914400" y="2240280"/>
            <a:ext cx="50400" cy="146268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50" name="TextBox 7"/>
          <p:cNvSpPr/>
          <p:nvPr/>
        </p:nvSpPr>
        <p:spPr>
          <a:xfrm>
            <a:off x="1097280" y="2395800"/>
            <a:ext cx="4768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업로드 이미지의 조명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배경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,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그림 품질이 다양함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완전 자동 인식만 고집하면 데모 실패 가능성 증가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51" name="TextBox 8"/>
          <p:cNvSpPr/>
          <p:nvPr/>
        </p:nvSpPr>
        <p:spPr>
          <a:xfrm>
            <a:off x="6231600" y="1920240"/>
            <a:ext cx="5042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SOLUTION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52" name="Rectangle 9"/>
          <p:cNvSpPr/>
          <p:nvPr/>
        </p:nvSpPr>
        <p:spPr>
          <a:xfrm>
            <a:off x="6231600" y="2240280"/>
            <a:ext cx="5042520" cy="1462680"/>
          </a:xfrm>
          <a:prstGeom prst="rect">
            <a:avLst/>
          </a:prstGeom>
          <a:solidFill>
            <a:srgbClr val="0e1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53" name="Rectangle 10"/>
          <p:cNvSpPr/>
          <p:nvPr/>
        </p:nvSpPr>
        <p:spPr>
          <a:xfrm>
            <a:off x="6231600" y="2240280"/>
            <a:ext cx="50400" cy="146268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54" name="TextBox 11"/>
          <p:cNvSpPr/>
          <p:nvPr/>
        </p:nvSpPr>
        <p:spPr>
          <a:xfrm>
            <a:off x="6414480" y="2395800"/>
            <a:ext cx="47682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ROI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선택 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+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색상 격자 수동 수정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+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블록 분할 미리보기 제공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Human-in-the-loop </a:t>
            </a:r>
            <a:r>
              <a:rPr b="0" lang="zh-CN" sz="1300" spc="-1" strike="noStrike">
                <a:solidFill>
                  <a:srgbClr val="e6edf3"/>
                </a:solidFill>
                <a:latin typeface="Calibri"/>
              </a:rPr>
              <a:t>방식</a:t>
            </a:r>
            <a:r>
              <a:rPr b="0" lang="en-US" sz="1300" spc="-1" strike="noStrike">
                <a:solidFill>
                  <a:srgbClr val="e6edf3"/>
                </a:solidFill>
                <a:latin typeface="Calibri"/>
              </a:rPr>
              <a:t>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55" name="Rectangle 12"/>
          <p:cNvSpPr/>
          <p:nvPr/>
        </p:nvSpPr>
        <p:spPr>
          <a:xfrm>
            <a:off x="6231600" y="3840480"/>
            <a:ext cx="5042520" cy="1325520"/>
          </a:xfrm>
          <a:prstGeom prst="rect">
            <a:avLst/>
          </a:prstGeom>
          <a:solidFill>
            <a:srgbClr val="0e15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56" name="Rectangle 13"/>
          <p:cNvSpPr/>
          <p:nvPr/>
        </p:nvSpPr>
        <p:spPr>
          <a:xfrm>
            <a:off x="6231600" y="3840480"/>
            <a:ext cx="50400" cy="132552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57" name="TextBox 14"/>
          <p:cNvSpPr/>
          <p:nvPr/>
        </p:nvSpPr>
        <p:spPr>
          <a:xfrm>
            <a:off x="6414480" y="400500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100" spc="-1" strike="noStrike">
                <a:solidFill>
                  <a:srgbClr val="79c0ff"/>
                </a:solidFill>
                <a:latin typeface="Calibri"/>
              </a:rPr>
              <a:t>선택 이유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58" name="TextBox 15"/>
          <p:cNvSpPr/>
          <p:nvPr/>
        </p:nvSpPr>
        <p:spPr>
          <a:xfrm>
            <a:off x="6414480" y="4316040"/>
            <a:ext cx="47682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완전 자동화보다 실용적 안정성 확보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8b949e"/>
                </a:solidFill>
                <a:latin typeface="Calibri"/>
              </a:rPr>
              <a:t>발표 데모에서 비전 오류를 즉석에서 보정 가능</a:t>
            </a: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9" name="TextBox 1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60" name="TextBox 1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46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62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project · differentiators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3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프로젝트 차별점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64" name="Rectangle 4"/>
          <p:cNvSpPr/>
          <p:nvPr/>
        </p:nvSpPr>
        <p:spPr>
          <a:xfrm>
            <a:off x="914400" y="201168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65" name="TextBox 5"/>
          <p:cNvSpPr/>
          <p:nvPr/>
        </p:nvSpPr>
        <p:spPr>
          <a:xfrm>
            <a:off x="1051560" y="228600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🔗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6" name="TextBox 6"/>
          <p:cNvSpPr/>
          <p:nvPr/>
        </p:nvSpPr>
        <p:spPr>
          <a:xfrm>
            <a:off x="1508760" y="212148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이미지 설계부터 조립까지 연결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67" name="TextBox 7"/>
          <p:cNvSpPr/>
          <p:nvPr/>
        </p:nvSpPr>
        <p:spPr>
          <a:xfrm>
            <a:off x="1508760" y="246888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단순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Pick &amp; Place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가 아닌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end-to-end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자동화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8" name="Rectangle 8"/>
          <p:cNvSpPr/>
          <p:nvPr/>
        </p:nvSpPr>
        <p:spPr>
          <a:xfrm>
            <a:off x="6231600" y="201168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69" name="TextBox 9"/>
          <p:cNvSpPr/>
          <p:nvPr/>
        </p:nvSpPr>
        <p:spPr>
          <a:xfrm>
            <a:off x="6368760" y="228600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🧩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0" name="TextBox 10"/>
          <p:cNvSpPr/>
          <p:nvPr/>
        </p:nvSpPr>
        <p:spPr>
          <a:xfrm>
            <a:off x="6825960" y="212148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물리 블록 단위 변환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71" name="TextBox 11"/>
          <p:cNvSpPr/>
          <p:nvPr/>
        </p:nvSpPr>
        <p:spPr>
          <a:xfrm>
            <a:off x="6825960" y="246888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색상 격자를 실제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2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칸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/3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칸 블록으로 정확히 매핑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2" name="Rectangle 12"/>
          <p:cNvSpPr/>
          <p:nvPr/>
        </p:nvSpPr>
        <p:spPr>
          <a:xfrm>
            <a:off x="914400" y="301752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73" name="TextBox 13"/>
          <p:cNvSpPr/>
          <p:nvPr/>
        </p:nvSpPr>
        <p:spPr>
          <a:xfrm>
            <a:off x="1051560" y="329184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🔢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4" name="TextBox 14"/>
          <p:cNvSpPr/>
          <p:nvPr/>
        </p:nvSpPr>
        <p:spPr>
          <a:xfrm>
            <a:off x="1508760" y="312732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Beam Search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구조 안정성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75" name="TextBox 15"/>
          <p:cNvSpPr/>
          <p:nvPr/>
        </p:nvSpPr>
        <p:spPr>
          <a:xfrm>
            <a:off x="1508760" y="347472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Greedy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보다 안정적인 조립 순서 생성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6" name="Rectangle 16"/>
          <p:cNvSpPr/>
          <p:nvPr/>
        </p:nvSpPr>
        <p:spPr>
          <a:xfrm>
            <a:off x="6231600" y="301752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77" name="TextBox 17"/>
          <p:cNvSpPr/>
          <p:nvPr/>
        </p:nvSpPr>
        <p:spPr>
          <a:xfrm>
            <a:off x="6368760" y="329184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📷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8" name="TextBox 18"/>
          <p:cNvSpPr/>
          <p:nvPr/>
        </p:nvSpPr>
        <p:spPr>
          <a:xfrm>
            <a:off x="6825960" y="312732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웹캠 사전 검사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79" name="TextBox 19"/>
          <p:cNvSpPr/>
          <p:nvPr/>
        </p:nvSpPr>
        <p:spPr>
          <a:xfrm>
            <a:off x="6825960" y="347472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집기 전 실패 예방으로 연쇄 오류 방지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80" name="Rectangle 20"/>
          <p:cNvSpPr/>
          <p:nvPr/>
        </p:nvSpPr>
        <p:spPr>
          <a:xfrm>
            <a:off x="914400" y="402336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81" name="TextBox 21"/>
          <p:cNvSpPr/>
          <p:nvPr/>
        </p:nvSpPr>
        <p:spPr>
          <a:xfrm>
            <a:off x="1051560" y="429768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🔍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82" name="TextBox 22"/>
          <p:cNvSpPr/>
          <p:nvPr/>
        </p:nvSpPr>
        <p:spPr>
          <a:xfrm>
            <a:off x="1508760" y="413316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전면 카메라 검증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83" name="TextBox 23"/>
          <p:cNvSpPr/>
          <p:nvPr/>
        </p:nvSpPr>
        <p:spPr>
          <a:xfrm>
            <a:off x="1508760" y="448056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조립 후 각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step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결과 확인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84" name="Rectangle 24"/>
          <p:cNvSpPr/>
          <p:nvPr/>
        </p:nvSpPr>
        <p:spPr>
          <a:xfrm>
            <a:off x="6231600" y="402336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85" name="TextBox 25"/>
          <p:cNvSpPr/>
          <p:nvPr/>
        </p:nvSpPr>
        <p:spPr>
          <a:xfrm>
            <a:off x="6368760" y="429768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⚠️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86" name="TextBox 26"/>
          <p:cNvSpPr/>
          <p:nvPr/>
        </p:nvSpPr>
        <p:spPr>
          <a:xfrm>
            <a:off x="6825960" y="413316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외력 감지 안전성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87" name="TextBox 27"/>
          <p:cNvSpPr/>
          <p:nvPr/>
        </p:nvSpPr>
        <p:spPr>
          <a:xfrm>
            <a:off x="6825960" y="448056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100Hz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모니터링으로 충돌 즉각 감지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88" name="Rectangle 28"/>
          <p:cNvSpPr/>
          <p:nvPr/>
        </p:nvSpPr>
        <p:spPr>
          <a:xfrm>
            <a:off x="914400" y="502920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89" name="TextBox 29"/>
          <p:cNvSpPr/>
          <p:nvPr/>
        </p:nvSpPr>
        <p:spPr>
          <a:xfrm>
            <a:off x="1051560" y="5303520"/>
            <a:ext cx="36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♻️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90" name="TextBox 30"/>
          <p:cNvSpPr/>
          <p:nvPr/>
        </p:nvSpPr>
        <p:spPr>
          <a:xfrm>
            <a:off x="1508760" y="513900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자동 해체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/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폐기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91" name="TextBox 31"/>
          <p:cNvSpPr/>
          <p:nvPr/>
        </p:nvSpPr>
        <p:spPr>
          <a:xfrm>
            <a:off x="1508760" y="548640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반복 가능한 완전 자동화 데모 시스템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2" name="Rectangle 32"/>
          <p:cNvSpPr/>
          <p:nvPr/>
        </p:nvSpPr>
        <p:spPr>
          <a:xfrm>
            <a:off x="6231600" y="5029200"/>
            <a:ext cx="5042520" cy="868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93" name="TextBox 33"/>
          <p:cNvSpPr/>
          <p:nvPr/>
        </p:nvSpPr>
        <p:spPr>
          <a:xfrm>
            <a:off x="6368760" y="5303520"/>
            <a:ext cx="365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e6edf3"/>
                </a:solidFill>
                <a:latin typeface="Noto Color Emoji"/>
              </a:rPr>
              <a:t>🖥️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94" name="TextBox 34"/>
          <p:cNvSpPr/>
          <p:nvPr/>
        </p:nvSpPr>
        <p:spPr>
          <a:xfrm>
            <a:off x="6825960" y="5139000"/>
            <a:ext cx="431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Web UI + Qt UI </a:t>
            </a:r>
            <a:r>
              <a:rPr b="1" lang="zh-CN" sz="1300" spc="-1" strike="noStrike">
                <a:solidFill>
                  <a:srgbClr val="ffffff"/>
                </a:solidFill>
                <a:latin typeface="Calibri"/>
              </a:rPr>
              <a:t>동시 지원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95" name="TextBox 35"/>
          <p:cNvSpPr/>
          <p:nvPr/>
        </p:nvSpPr>
        <p:spPr>
          <a:xfrm>
            <a:off x="6825960" y="5486400"/>
            <a:ext cx="4311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다양한 환경에서 동일한 제어 경험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6" name="TextBox 36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97" name="TextBox 37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47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99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reflection · future-work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0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한계 및 개선 방향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201" name="TextBox 4"/>
          <p:cNvSpPr/>
          <p:nvPr/>
        </p:nvSpPr>
        <p:spPr>
          <a:xfrm>
            <a:off x="914400" y="1965960"/>
            <a:ext cx="5042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ff7b72"/>
                </a:solidFill>
                <a:latin typeface="Calibri"/>
              </a:rPr>
              <a:t>현재 한계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02" name="Rectangle 5"/>
          <p:cNvSpPr/>
          <p:nvPr/>
        </p:nvSpPr>
        <p:spPr>
          <a:xfrm>
            <a:off x="914400" y="233172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03" name="Rectangle 6"/>
          <p:cNvSpPr/>
          <p:nvPr/>
        </p:nvSpPr>
        <p:spPr>
          <a:xfrm>
            <a:off x="914400" y="233172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04" name="TextBox 7"/>
          <p:cNvSpPr/>
          <p:nvPr/>
        </p:nvSpPr>
        <p:spPr>
          <a:xfrm>
            <a:off x="1078920" y="2386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카메라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ROI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와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threshold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가 실측값에 의존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05" name="Rectangle 8"/>
          <p:cNvSpPr/>
          <p:nvPr/>
        </p:nvSpPr>
        <p:spPr>
          <a:xfrm>
            <a:off x="914400" y="304488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06" name="Rectangle 9"/>
          <p:cNvSpPr/>
          <p:nvPr/>
        </p:nvSpPr>
        <p:spPr>
          <a:xfrm>
            <a:off x="914400" y="304488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07" name="TextBox 10"/>
          <p:cNvSpPr/>
          <p:nvPr/>
        </p:nvSpPr>
        <p:spPr>
          <a:xfrm>
            <a:off x="1078920" y="309996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웹캠 위치 변경 시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ROI/Hough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파라미터 재튜닝 필요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08" name="Rectangle 11"/>
          <p:cNvSpPr/>
          <p:nvPr/>
        </p:nvSpPr>
        <p:spPr>
          <a:xfrm>
            <a:off x="914400" y="375804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09" name="Rectangle 12"/>
          <p:cNvSpPr/>
          <p:nvPr/>
        </p:nvSpPr>
        <p:spPr>
          <a:xfrm>
            <a:off x="914400" y="375804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10" name="TextBox 13"/>
          <p:cNvSpPr/>
          <p:nvPr/>
        </p:nvSpPr>
        <p:spPr>
          <a:xfrm>
            <a:off x="1078920" y="381312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전면 검증은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4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점 이미지 변환 기반 — 위치 변경 시 재설정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11" name="Rectangle 14"/>
          <p:cNvSpPr/>
          <p:nvPr/>
        </p:nvSpPr>
        <p:spPr>
          <a:xfrm>
            <a:off x="914400" y="4471560"/>
            <a:ext cx="5042520" cy="347040"/>
          </a:xfrm>
          <a:prstGeom prst="rect">
            <a:avLst/>
          </a:prstGeom>
          <a:solidFill>
            <a:srgbClr val="1a1010"/>
          </a:solidFill>
          <a:ln>
            <a:solidFill>
              <a:srgbClr val="5020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12" name="Rectangle 15"/>
          <p:cNvSpPr/>
          <p:nvPr/>
        </p:nvSpPr>
        <p:spPr>
          <a:xfrm>
            <a:off x="914400" y="4471560"/>
            <a:ext cx="50400" cy="34704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13" name="TextBox 16"/>
          <p:cNvSpPr/>
          <p:nvPr/>
        </p:nvSpPr>
        <p:spPr>
          <a:xfrm>
            <a:off x="1078920" y="452628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step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기반 자동 복구 </a:t>
            </a:r>
            <a:r>
              <a:rPr b="1" lang="en-US" sz="1200" spc="-1" strike="noStrike">
                <a:solidFill>
                  <a:srgbClr val="ff7b72"/>
                </a:solidFill>
                <a:latin typeface="Calibri"/>
              </a:rPr>
              <a:t>queue </a:t>
            </a:r>
            <a:r>
              <a:rPr b="1" lang="zh-CN" sz="1200" spc="-1" strike="noStrike">
                <a:solidFill>
                  <a:srgbClr val="ff7b72"/>
                </a:solidFill>
                <a:latin typeface="Calibri"/>
              </a:rPr>
              <a:t>미구현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14" name="TextBox 17"/>
          <p:cNvSpPr/>
          <p:nvPr/>
        </p:nvSpPr>
        <p:spPr>
          <a:xfrm>
            <a:off x="6231600" y="1965960"/>
            <a:ext cx="5042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300" spc="-1" strike="noStrike">
                <a:solidFill>
                  <a:srgbClr val="7ee787"/>
                </a:solidFill>
                <a:latin typeface="Calibri"/>
              </a:rPr>
              <a:t>개선 방향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15" name="Rectangle 18"/>
          <p:cNvSpPr/>
          <p:nvPr/>
        </p:nvSpPr>
        <p:spPr>
          <a:xfrm>
            <a:off x="6231600" y="233172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16" name="Rectangle 19"/>
          <p:cNvSpPr/>
          <p:nvPr/>
        </p:nvSpPr>
        <p:spPr>
          <a:xfrm>
            <a:off x="6231600" y="233172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17" name="TextBox 20"/>
          <p:cNvSpPr/>
          <p:nvPr/>
        </p:nvSpPr>
        <p:spPr>
          <a:xfrm>
            <a:off x="6396120" y="2386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카메라 캘리브레이션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UI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추가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18" name="Rectangle 21"/>
          <p:cNvSpPr/>
          <p:nvPr/>
        </p:nvSpPr>
        <p:spPr>
          <a:xfrm>
            <a:off x="6231600" y="304488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19" name="Rectangle 22"/>
          <p:cNvSpPr/>
          <p:nvPr/>
        </p:nvSpPr>
        <p:spPr>
          <a:xfrm>
            <a:off x="6231600" y="304488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20" name="TextBox 23"/>
          <p:cNvSpPr/>
          <p:nvPr/>
        </p:nvSpPr>
        <p:spPr>
          <a:xfrm>
            <a:off x="6396120" y="309996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ROI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자동 저장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/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로드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1" name="Rectangle 24"/>
          <p:cNvSpPr/>
          <p:nvPr/>
        </p:nvSpPr>
        <p:spPr>
          <a:xfrm>
            <a:off x="6231600" y="375804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22" name="Rectangle 25"/>
          <p:cNvSpPr/>
          <p:nvPr/>
        </p:nvSpPr>
        <p:spPr>
          <a:xfrm>
            <a:off x="6231600" y="375804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23" name="TextBox 26"/>
          <p:cNvSpPr/>
          <p:nvPr/>
        </p:nvSpPr>
        <p:spPr>
          <a:xfrm>
            <a:off x="6396120" y="381312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실패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step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기반 재조립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queue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4" name="Rectangle 27"/>
          <p:cNvSpPr/>
          <p:nvPr/>
        </p:nvSpPr>
        <p:spPr>
          <a:xfrm>
            <a:off x="6231600" y="447156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25" name="Rectangle 28"/>
          <p:cNvSpPr/>
          <p:nvPr/>
        </p:nvSpPr>
        <p:spPr>
          <a:xfrm>
            <a:off x="6231600" y="447156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26" name="TextBox 29"/>
          <p:cNvSpPr/>
          <p:nvPr/>
        </p:nvSpPr>
        <p:spPr>
          <a:xfrm>
            <a:off x="6396120" y="452628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블록 인식 모델 고도화 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(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딥러닝</a:t>
            </a: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7" name="Rectangle 30"/>
          <p:cNvSpPr/>
          <p:nvPr/>
        </p:nvSpPr>
        <p:spPr>
          <a:xfrm>
            <a:off x="6231600" y="5184720"/>
            <a:ext cx="5042520" cy="347040"/>
          </a:xfrm>
          <a:prstGeom prst="rect">
            <a:avLst/>
          </a:prstGeom>
          <a:solidFill>
            <a:srgbClr val="0e1a10"/>
          </a:solidFill>
          <a:ln>
            <a:solidFill>
              <a:srgbClr val="2050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28" name="Rectangle 31"/>
          <p:cNvSpPr/>
          <p:nvPr/>
        </p:nvSpPr>
        <p:spPr>
          <a:xfrm>
            <a:off x="6231600" y="5184720"/>
            <a:ext cx="50400" cy="34704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29" name="TextBox 32"/>
          <p:cNvSpPr/>
          <p:nvPr/>
        </p:nvSpPr>
        <p:spPr>
          <a:xfrm>
            <a:off x="6396120" y="5239440"/>
            <a:ext cx="484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7ee787"/>
                </a:solidFill>
                <a:latin typeface="Calibri"/>
              </a:rPr>
              <a:t>fail-close </a:t>
            </a:r>
            <a:r>
              <a:rPr b="1" lang="zh-CN" sz="1200" spc="-1" strike="noStrike">
                <a:solidFill>
                  <a:srgbClr val="7ee787"/>
                </a:solidFill>
                <a:latin typeface="Calibri"/>
              </a:rPr>
              <a:t>안전 옵션 추가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0" name="TextBox 33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31" name="TextBox 34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48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33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results · achievements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34" name="TextBox 3"/>
          <p:cNvSpPr/>
          <p:nvPr/>
        </p:nvSpPr>
        <p:spPr>
          <a:xfrm>
            <a:off x="914400" y="1051560"/>
            <a:ext cx="103597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3400" spc="-1" strike="noStrike">
                <a:solidFill>
                  <a:srgbClr val="ffffff"/>
                </a:solidFill>
                <a:latin typeface="Calibri"/>
              </a:rPr>
              <a:t>성과 정리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235" name="Rectangle 4"/>
          <p:cNvSpPr/>
          <p:nvPr/>
        </p:nvSpPr>
        <p:spPr>
          <a:xfrm>
            <a:off x="914400" y="2011680"/>
            <a:ext cx="5042520" cy="16455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36" name="Rectangle 5"/>
          <p:cNvSpPr/>
          <p:nvPr/>
        </p:nvSpPr>
        <p:spPr>
          <a:xfrm>
            <a:off x="914400" y="2011680"/>
            <a:ext cx="5042520" cy="37800"/>
          </a:xfrm>
          <a:prstGeom prst="rect">
            <a:avLst/>
          </a:prstGeom>
          <a:solidFill>
            <a:srgbClr val="7ee7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37" name="TextBox 6"/>
          <p:cNvSpPr/>
          <p:nvPr/>
        </p:nvSpPr>
        <p:spPr>
          <a:xfrm>
            <a:off x="1078920" y="2212920"/>
            <a:ext cx="45684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e6edf3"/>
                </a:solidFill>
                <a:latin typeface="Noto Color Emoji"/>
              </a:rPr>
              <a:t>🏗️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38" name="TextBox 7"/>
          <p:cNvSpPr/>
          <p:nvPr/>
        </p:nvSpPr>
        <p:spPr>
          <a:xfrm>
            <a:off x="1078920" y="2724840"/>
            <a:ext cx="4768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ROS2 </a:t>
            </a: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전체 파이프라인 구축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9" name="TextBox 8"/>
          <p:cNvSpPr/>
          <p:nvPr/>
        </p:nvSpPr>
        <p:spPr>
          <a:xfrm>
            <a:off x="1078920" y="31273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이미지 → 블록 계획 → 로봇 실행까지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end-to-end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구현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0" name="Rectangle 9"/>
          <p:cNvSpPr/>
          <p:nvPr/>
        </p:nvSpPr>
        <p:spPr>
          <a:xfrm>
            <a:off x="6231600" y="2011680"/>
            <a:ext cx="5042520" cy="16455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41" name="Rectangle 10"/>
          <p:cNvSpPr/>
          <p:nvPr/>
        </p:nvSpPr>
        <p:spPr>
          <a:xfrm>
            <a:off x="6231600" y="2011680"/>
            <a:ext cx="5042520" cy="37800"/>
          </a:xfrm>
          <a:prstGeom prst="rect">
            <a:avLst/>
          </a:prstGeom>
          <a:solidFill>
            <a:srgbClr val="79c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42" name="TextBox 11"/>
          <p:cNvSpPr/>
          <p:nvPr/>
        </p:nvSpPr>
        <p:spPr>
          <a:xfrm>
            <a:off x="6396120" y="2212920"/>
            <a:ext cx="4568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e6edf3"/>
                </a:solidFill>
                <a:latin typeface="Noto Color Emoji"/>
              </a:rPr>
              <a:t>🤖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43" name="TextBox 12"/>
          <p:cNvSpPr/>
          <p:nvPr/>
        </p:nvSpPr>
        <p:spPr>
          <a:xfrm>
            <a:off x="6396120" y="2724840"/>
            <a:ext cx="4768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실제 로봇 좌표계 연결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44" name="TextBox 13"/>
          <p:cNvSpPr/>
          <p:nvPr/>
        </p:nvSpPr>
        <p:spPr>
          <a:xfrm>
            <a:off x="6396120" y="31273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비전 결과와 로봇 좌표계를 실측 기반으로 정밀 연결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5" name="Rectangle 14"/>
          <p:cNvSpPr/>
          <p:nvPr/>
        </p:nvSpPr>
        <p:spPr>
          <a:xfrm>
            <a:off x="914400" y="3840480"/>
            <a:ext cx="5042520" cy="16455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46" name="Rectangle 15"/>
          <p:cNvSpPr/>
          <p:nvPr/>
        </p:nvSpPr>
        <p:spPr>
          <a:xfrm>
            <a:off x="914400" y="3840480"/>
            <a:ext cx="5042520" cy="37800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47" name="TextBox 16"/>
          <p:cNvSpPr/>
          <p:nvPr/>
        </p:nvSpPr>
        <p:spPr>
          <a:xfrm>
            <a:off x="1078920" y="4041720"/>
            <a:ext cx="45684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e6edf3"/>
                </a:solidFill>
                <a:latin typeface="Noto Color Emoji"/>
              </a:rPr>
              <a:t>🛡️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48" name="TextBox 17"/>
          <p:cNvSpPr/>
          <p:nvPr/>
        </p:nvSpPr>
        <p:spPr>
          <a:xfrm>
            <a:off x="1078920" y="4553640"/>
            <a:ext cx="4768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다중화된 안전 검증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49" name="TextBox 18"/>
          <p:cNvSpPr/>
          <p:nvPr/>
        </p:nvSpPr>
        <p:spPr>
          <a:xfrm>
            <a:off x="1078920" y="49561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웹캠 검사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+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전면 검증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+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외력 감지로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3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중 안전망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50" name="Rectangle 19"/>
          <p:cNvSpPr/>
          <p:nvPr/>
        </p:nvSpPr>
        <p:spPr>
          <a:xfrm>
            <a:off x="6231600" y="3840480"/>
            <a:ext cx="5042520" cy="164556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51" name="Rectangle 20"/>
          <p:cNvSpPr/>
          <p:nvPr/>
        </p:nvSpPr>
        <p:spPr>
          <a:xfrm>
            <a:off x="6231600" y="3840480"/>
            <a:ext cx="5042520" cy="37800"/>
          </a:xfrm>
          <a:prstGeom prst="rect">
            <a:avLst/>
          </a:prstGeom>
          <a:solidFill>
            <a:srgbClr val="ff7b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52" name="TextBox 21"/>
          <p:cNvSpPr/>
          <p:nvPr/>
        </p:nvSpPr>
        <p:spPr>
          <a:xfrm>
            <a:off x="6396120" y="4041720"/>
            <a:ext cx="4568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e6edf3"/>
                </a:solidFill>
                <a:latin typeface="Noto Color Emoji"/>
              </a:rPr>
              <a:t>💡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53" name="TextBox 22"/>
          <p:cNvSpPr/>
          <p:nvPr/>
        </p:nvSpPr>
        <p:spPr>
          <a:xfrm>
            <a:off x="6396120" y="4553640"/>
            <a:ext cx="4768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Calibri"/>
              </a:rPr>
              <a:t>구조적 예외 처리 경험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4" name="TextBox 23"/>
          <p:cNvSpPr/>
          <p:nvPr/>
        </p:nvSpPr>
        <p:spPr>
          <a:xfrm>
            <a:off x="6396120" y="4956120"/>
            <a:ext cx="4768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ROS2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통합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실제 오차 처리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,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전통 비전과 </a:t>
            </a: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UI </a:t>
            </a:r>
            <a:r>
              <a:rPr b="0" lang="zh-CN" sz="1100" spc="-1" strike="noStrike">
                <a:solidFill>
                  <a:srgbClr val="8b949e"/>
                </a:solidFill>
                <a:latin typeface="Calibri"/>
              </a:rPr>
              <a:t>보정의 실용적 조합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55" name="TextBox 24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56" name="TextBox 25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49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58" name="TextBox 2"/>
          <p:cNvSpPr/>
          <p:nvPr/>
        </p:nvSpPr>
        <p:spPr>
          <a:xfrm>
            <a:off x="914400" y="658440"/>
            <a:ext cx="1035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7ee787"/>
                </a:solidFill>
                <a:latin typeface="Calibri"/>
              </a:rPr>
              <a:t>&gt; closing · summary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59" name="TextBox 3"/>
          <p:cNvSpPr/>
          <p:nvPr/>
        </p:nvSpPr>
        <p:spPr>
          <a:xfrm>
            <a:off x="914400" y="1280160"/>
            <a:ext cx="10359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600" spc="-1" strike="noStrike">
                <a:solidFill>
                  <a:srgbClr val="ffffff"/>
                </a:solidFill>
                <a:latin typeface="Calibri"/>
              </a:rPr>
              <a:t>이미지 기반 설계도를 실제 로봇 조립 동작으로 변환하고</a:t>
            </a: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,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60" name="TextBox 4"/>
          <p:cNvSpPr/>
          <p:nvPr/>
        </p:nvSpPr>
        <p:spPr>
          <a:xfrm>
            <a:off x="914400" y="1828800"/>
            <a:ext cx="10359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600" spc="-1" strike="noStrike">
                <a:solidFill>
                  <a:srgbClr val="7ee787"/>
                </a:solidFill>
                <a:latin typeface="Calibri"/>
              </a:rPr>
              <a:t>실행 중 발생 가능한 실패를 비전</a:t>
            </a:r>
            <a:r>
              <a:rPr b="1" lang="en-US" sz="2600" spc="-1" strike="noStrike">
                <a:solidFill>
                  <a:srgbClr val="7ee787"/>
                </a:solidFill>
                <a:latin typeface="Calibri"/>
              </a:rPr>
              <a:t>·</a:t>
            </a:r>
            <a:r>
              <a:rPr b="1" lang="zh-CN" sz="2600" spc="-1" strike="noStrike">
                <a:solidFill>
                  <a:srgbClr val="7ee787"/>
                </a:solidFill>
                <a:latin typeface="Calibri"/>
              </a:rPr>
              <a:t>외력</a:t>
            </a:r>
            <a:r>
              <a:rPr b="1" lang="en-US" sz="2600" spc="-1" strike="noStrike">
                <a:solidFill>
                  <a:srgbClr val="7ee787"/>
                </a:solidFill>
                <a:latin typeface="Calibri"/>
              </a:rPr>
              <a:t>·UI </a:t>
            </a:r>
            <a:r>
              <a:rPr b="1" lang="zh-CN" sz="2600" spc="-1" strike="noStrike">
                <a:solidFill>
                  <a:srgbClr val="7ee787"/>
                </a:solidFill>
                <a:latin typeface="Calibri"/>
              </a:rPr>
              <a:t>제어로 보완한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61" name="TextBox 5"/>
          <p:cNvSpPr/>
          <p:nvPr/>
        </p:nvSpPr>
        <p:spPr>
          <a:xfrm>
            <a:off x="914400" y="2377440"/>
            <a:ext cx="10359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600" spc="-1" strike="noStrike">
                <a:solidFill>
                  <a:srgbClr val="7ee787"/>
                </a:solidFill>
                <a:latin typeface="Calibri"/>
              </a:rPr>
              <a:t>폐루프 자동화 시스템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62" name="Rectangle 6"/>
          <p:cNvSpPr/>
          <p:nvPr/>
        </p:nvSpPr>
        <p:spPr>
          <a:xfrm>
            <a:off x="914400" y="3246120"/>
            <a:ext cx="3331080" cy="132552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63" name="TextBox 7"/>
          <p:cNvSpPr/>
          <p:nvPr/>
        </p:nvSpPr>
        <p:spPr>
          <a:xfrm>
            <a:off x="1051560" y="3401640"/>
            <a:ext cx="3102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000" spc="-1" strike="noStrike">
                <a:solidFill>
                  <a:srgbClr val="7ee787"/>
                </a:solidFill>
                <a:latin typeface="Calibri"/>
              </a:rPr>
              <a:t>배운 점 </a:t>
            </a:r>
            <a:r>
              <a:rPr b="1" lang="en-US" sz="1000" spc="-1" strike="noStrike">
                <a:solidFill>
                  <a:srgbClr val="7ee787"/>
                </a:solidFill>
                <a:latin typeface="Calibri"/>
              </a:rPr>
              <a:t>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64" name="TextBox 8"/>
          <p:cNvSpPr/>
          <p:nvPr/>
        </p:nvSpPr>
        <p:spPr>
          <a:xfrm>
            <a:off x="1051560" y="3712320"/>
            <a:ext cx="3102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ROS2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통합 설계 — 노드 분리와 인터페이스 설계의 중요성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65" name="Rectangle 9"/>
          <p:cNvSpPr/>
          <p:nvPr/>
        </p:nvSpPr>
        <p:spPr>
          <a:xfrm>
            <a:off x="4428720" y="3246120"/>
            <a:ext cx="3331080" cy="132552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66" name="TextBox 10"/>
          <p:cNvSpPr/>
          <p:nvPr/>
        </p:nvSpPr>
        <p:spPr>
          <a:xfrm>
            <a:off x="4565880" y="3401640"/>
            <a:ext cx="3102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000" spc="-1" strike="noStrike">
                <a:solidFill>
                  <a:srgbClr val="79c0ff"/>
                </a:solidFill>
                <a:latin typeface="Calibri"/>
              </a:rPr>
              <a:t>배운 점 </a:t>
            </a:r>
            <a:r>
              <a:rPr b="1" lang="en-US" sz="1000" spc="-1" strike="noStrike">
                <a:solidFill>
                  <a:srgbClr val="79c0ff"/>
                </a:solidFill>
                <a:latin typeface="Calibri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67" name="TextBox 11"/>
          <p:cNvSpPr/>
          <p:nvPr/>
        </p:nvSpPr>
        <p:spPr>
          <a:xfrm>
            <a:off x="4565880" y="3712320"/>
            <a:ext cx="3102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로봇 제어와 비전의 실제 오차 처리 경험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68" name="Rectangle 12"/>
          <p:cNvSpPr/>
          <p:nvPr/>
        </p:nvSpPr>
        <p:spPr>
          <a:xfrm>
            <a:off x="7943040" y="3246120"/>
            <a:ext cx="3331080" cy="1325520"/>
          </a:xfrm>
          <a:prstGeom prst="rect">
            <a:avLst/>
          </a:prstGeom>
          <a:solidFill>
            <a:srgbClr val="161b22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69" name="TextBox 13"/>
          <p:cNvSpPr/>
          <p:nvPr/>
        </p:nvSpPr>
        <p:spPr>
          <a:xfrm>
            <a:off x="8080200" y="3401640"/>
            <a:ext cx="3102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1000" spc="-1" strike="noStrike">
                <a:solidFill>
                  <a:srgbClr val="d2a8ff"/>
                </a:solidFill>
                <a:latin typeface="Calibri"/>
              </a:rPr>
              <a:t>배운 점 </a:t>
            </a:r>
            <a:r>
              <a:rPr b="1" lang="en-US" sz="1000" spc="-1" strike="noStrike">
                <a:solidFill>
                  <a:srgbClr val="d2a8ff"/>
                </a:solidFill>
                <a:latin typeface="Calibri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70" name="TextBox 14"/>
          <p:cNvSpPr/>
          <p:nvPr/>
        </p:nvSpPr>
        <p:spPr>
          <a:xfrm>
            <a:off x="8080200" y="3712320"/>
            <a:ext cx="3102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데모 안정성을 위한 </a:t>
            </a:r>
            <a:r>
              <a:rPr b="0" lang="en-US" sz="1200" spc="-1" strike="noStrike">
                <a:solidFill>
                  <a:srgbClr val="e6edf3"/>
                </a:solidFill>
                <a:latin typeface="Calibri"/>
              </a:rPr>
              <a:t>Human-in-the-loop </a:t>
            </a:r>
            <a:r>
              <a:rPr b="0" lang="zh-CN" sz="1200" spc="-1" strike="noStrike">
                <a:solidFill>
                  <a:srgbClr val="e6edf3"/>
                </a:solidFill>
                <a:latin typeface="Calibri"/>
              </a:rPr>
              <a:t>설계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71" name="TextBox 15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72" name="TextBox 16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50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74" name="Rectangle 2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75" name="TextBox 3"/>
          <p:cNvSpPr/>
          <p:nvPr/>
        </p:nvSpPr>
        <p:spPr>
          <a:xfrm>
            <a:off x="0" y="1828800"/>
            <a:ext cx="12188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7200" spc="-1" strike="noStrike">
                <a:solidFill>
                  <a:srgbClr val="7ee787"/>
                </a:solidFill>
                <a:latin typeface="Calibri"/>
              </a:rPr>
              <a:t>Q &amp; A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276" name="TextBox 4"/>
          <p:cNvSpPr/>
          <p:nvPr/>
        </p:nvSpPr>
        <p:spPr>
          <a:xfrm>
            <a:off x="0" y="3611880"/>
            <a:ext cx="12188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rgbClr val="8b949e"/>
                </a:solidFill>
                <a:latin typeface="Calibri"/>
              </a:rPr>
              <a:t>궁금하신 점이 있으시면 편하게 질문해 주세요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77" name="Rectangle 5"/>
          <p:cNvSpPr/>
          <p:nvPr/>
        </p:nvSpPr>
        <p:spPr>
          <a:xfrm>
            <a:off x="1485720" y="4434840"/>
            <a:ext cx="1672920" cy="383760"/>
          </a:xfrm>
          <a:prstGeom prst="rect">
            <a:avLst/>
          </a:prstGeom>
          <a:solidFill>
            <a:srgbClr val="1c2230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78" name="TextBox 6"/>
          <p:cNvSpPr/>
          <p:nvPr/>
        </p:nvSpPr>
        <p:spPr>
          <a:xfrm>
            <a:off x="1485720" y="4480560"/>
            <a:ext cx="1672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ROS2 Humble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79" name="Rectangle 7"/>
          <p:cNvSpPr/>
          <p:nvPr/>
        </p:nvSpPr>
        <p:spPr>
          <a:xfrm>
            <a:off x="3342240" y="4434840"/>
            <a:ext cx="1791720" cy="383760"/>
          </a:xfrm>
          <a:prstGeom prst="rect">
            <a:avLst/>
          </a:prstGeom>
          <a:solidFill>
            <a:srgbClr val="1c2230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80" name="TextBox 8"/>
          <p:cNvSpPr/>
          <p:nvPr/>
        </p:nvSpPr>
        <p:spPr>
          <a:xfrm>
            <a:off x="3342240" y="4480560"/>
            <a:ext cx="1791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Doosan M0609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1" name="Rectangle 9"/>
          <p:cNvSpPr/>
          <p:nvPr/>
        </p:nvSpPr>
        <p:spPr>
          <a:xfrm>
            <a:off x="5317200" y="4434840"/>
            <a:ext cx="1672920" cy="383760"/>
          </a:xfrm>
          <a:prstGeom prst="rect">
            <a:avLst/>
          </a:prstGeom>
          <a:solidFill>
            <a:srgbClr val="1c2230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82" name="TextBox 10"/>
          <p:cNvSpPr/>
          <p:nvPr/>
        </p:nvSpPr>
        <p:spPr>
          <a:xfrm>
            <a:off x="5317200" y="4480560"/>
            <a:ext cx="1672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OnRobot RG2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3" name="Rectangle 11"/>
          <p:cNvSpPr/>
          <p:nvPr/>
        </p:nvSpPr>
        <p:spPr>
          <a:xfrm>
            <a:off x="7173360" y="4434840"/>
            <a:ext cx="1078560" cy="383760"/>
          </a:xfrm>
          <a:prstGeom prst="rect">
            <a:avLst/>
          </a:prstGeom>
          <a:solidFill>
            <a:srgbClr val="1c2230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84" name="TextBox 12"/>
          <p:cNvSpPr/>
          <p:nvPr/>
        </p:nvSpPr>
        <p:spPr>
          <a:xfrm>
            <a:off x="7173360" y="4480560"/>
            <a:ext cx="1078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OpenCV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5" name="Rectangle 13"/>
          <p:cNvSpPr/>
          <p:nvPr/>
        </p:nvSpPr>
        <p:spPr>
          <a:xfrm>
            <a:off x="8435160" y="4434840"/>
            <a:ext cx="2267280" cy="383760"/>
          </a:xfrm>
          <a:prstGeom prst="rect">
            <a:avLst/>
          </a:prstGeom>
          <a:solidFill>
            <a:srgbClr val="1c2230"/>
          </a:solidFill>
          <a:ln>
            <a:solidFill>
              <a:srgbClr val="303a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86" name="TextBox 14"/>
          <p:cNvSpPr/>
          <p:nvPr/>
        </p:nvSpPr>
        <p:spPr>
          <a:xfrm>
            <a:off x="8435160" y="4480560"/>
            <a:ext cx="2267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Flask + SocketIO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7" name="TextBox 15"/>
          <p:cNvSpPr/>
          <p:nvPr/>
        </p:nvSpPr>
        <p:spPr>
          <a:xfrm>
            <a:off x="914400" y="6473880"/>
            <a:ext cx="6400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lego-robot-auto-assembly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88" name="TextBox 16"/>
          <p:cNvSpPr/>
          <p:nvPr/>
        </p:nvSpPr>
        <p:spPr>
          <a:xfrm>
            <a:off x="10542960" y="6473880"/>
            <a:ext cx="14626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e7681"/>
                </a:solidFill>
                <a:latin typeface="Calibri"/>
              </a:rPr>
              <a:t>51 / 51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2026-06-30T09:50:51Z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
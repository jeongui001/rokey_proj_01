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A2F7"/>
                </a:solidFill>
              </a:rPr>
              <a:t>&gt; rokey-proj-01 / sequencer-node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0" b="1">
                <a:solidFill>
                  <a:srgbClr val="FFFFFF"/>
                </a:solidFill>
              </a:rPr>
              <a:t>Sequencer</a:t>
            </a:r>
          </a:p>
          <a:p>
            <a:r>
              <a:rPr sz="6800" b="1">
                <a:solidFill>
                  <a:srgbClr val="7AA2F7"/>
                </a:solidFill>
              </a:rPr>
              <a:t>노드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9B1D6"/>
                </a:solidFill>
              </a:rPr>
              <a:t>색상 배열 → 블록 배치 계획으로 변환하는 ROS2 서비스 노드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65F89"/>
                </a:solidFill>
              </a:rPr>
              <a:t>두산 로봇 DRL 프로젝트   |   ROS2 · Python · Beam Search 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F89"/>
                </a:solidFill>
              </a:rPr>
              <a:t>sequencer_node.py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3032" y="64190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65F89"/>
                </a:solidFill>
              </a:rPr>
              <a:t>1  / 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A2F7"/>
                </a:solidFill>
              </a:rPr>
              <a:t>&gt;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처리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79192"/>
            <a:ext cx="10360152" cy="6000"/>
          </a:xfrm>
          <a:prstGeom prst="rect">
            <a:avLst/>
          </a:prstGeom>
          <a:solidFill>
            <a:srgbClr val="2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AA2F7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659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2차원 격자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965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65F89"/>
                </a:solidFill>
              </a:rPr>
              <a:t>색상 배열 → 그리드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9584"/>
            <a:ext cx="10360152" cy="6000"/>
          </a:xfrm>
          <a:prstGeom prst="rect">
            <a:avLst/>
          </a:prstGeom>
          <a:solidFill>
            <a:srgbClr val="2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AA2F7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8163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색상 런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81635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65F89"/>
                </a:solidFill>
              </a:rPr>
              <a:t>동일 색상 인접 셀 묶기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79976"/>
            <a:ext cx="10360152" cy="6000"/>
          </a:xfrm>
          <a:prstGeom prst="rect">
            <a:avLst/>
          </a:prstGeom>
          <a:solidFill>
            <a:srgbClr val="2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66744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AA2F7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666744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블록 유형 매칭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6674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65F89"/>
                </a:solidFill>
              </a:rPr>
              <a:t>Beam Search DP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230368"/>
            <a:ext cx="10360152" cy="6000"/>
          </a:xfrm>
          <a:prstGeom prst="rect">
            <a:avLst/>
          </a:prstGeom>
          <a:solidFill>
            <a:srgbClr val="2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1713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AA2F7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17136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배치 순서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51713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65F89"/>
                </a:solidFill>
              </a:rPr>
              <a:t>아래 → 위, 좌 → 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6080760"/>
            <a:ext cx="10360152" cy="6000"/>
          </a:xfrm>
          <a:prstGeom prst="rect">
            <a:avLst/>
          </a:prstGeom>
          <a:solidFill>
            <a:srgbClr val="2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6752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AA2F7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367528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Y 좌표 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36752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65F89"/>
                </a:solidFill>
              </a:rPr>
              <a:t>셀 중심 기반 로봇 좌표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190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F89"/>
                </a:solidFill>
              </a:rPr>
              <a:t>sequencer_node.py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3032" y="64190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65F89"/>
                </a:solidFill>
              </a:rPr>
              <a:t>2  / 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A2F7"/>
                </a:solidFill>
              </a:rPr>
              <a:t>&gt; step 01 –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격자 생성  &amp;  런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A2F7"/>
                </a:solidFill>
              </a:rPr>
              <a:t>① 2차원 격자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4846320" cy="530352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50592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9B1D6"/>
                </a:solidFill>
              </a:rPr>
              <a:t>1차원 색상 배열(row-major)을 W × H 그리드로 변환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99232"/>
            <a:ext cx="4846320" cy="530352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072384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9B1D6"/>
                </a:solidFill>
              </a:rPr>
              <a:t>row 0 = 이미지 상단  /  row H-1 = 이미지 하단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21024"/>
            <a:ext cx="4846320" cy="530352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9B1D6"/>
                </a:solidFill>
              </a:rPr>
              <a:t>X 좌표 고정 (332.0 mm)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42816"/>
            <a:ext cx="4846320" cy="530352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31596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9B1D6"/>
                </a:solidFill>
              </a:rPr>
              <a:t>Z 좌표 힘 탐지 — 계산 불필요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9AF7"/>
                </a:solidFill>
              </a:rPr>
              <a:t>② 색상 런 추출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591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9B1D6"/>
                </a:solidFill>
              </a:rPr>
              <a:t>행 단위로 동일 색상 인접 셀을 묶는다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834640"/>
            <a:ext cx="4846320" cy="6858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944368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768E"/>
                </a:solidFill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944368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F5"/>
                </a:solidFill>
              </a:rPr>
              <a:t>"empty" · 빈 문자열 건너뜀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657600"/>
            <a:ext cx="4846320" cy="6858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3767328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65F89"/>
                </a:solidFill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767328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F5"/>
                </a:solidFill>
              </a:rPr>
              <a:t>길이 1 런 건너뜀 (블록 불가)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480560"/>
            <a:ext cx="4846320" cy="6858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590288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9AF7"/>
                </a:solidFill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590288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F5"/>
                </a:solidFill>
              </a:rPr>
              <a:t>길이 ≥ 2인 런만 분할 대상으로 등록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190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F89"/>
                </a:solidFill>
              </a:rPr>
              <a:t>sequencer_node.py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3032" y="64190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65F89"/>
                </a:solidFill>
              </a:rPr>
              <a:t>3  / 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A2F7"/>
                </a:solidFill>
              </a:rPr>
              <a:t>&gt; step 03 · beam search 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블록 유형 매칭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A2F7"/>
                </a:solidFill>
              </a:rPr>
              <a:t>블록 유형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1609344" cy="457200"/>
          </a:xfrm>
          <a:prstGeom prst="rect">
            <a:avLst/>
          </a:prstGeom>
          <a:solidFill>
            <a:srgbClr val="1C202F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2F7"/>
                </a:solidFill>
              </a:rPr>
              <a:t>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331720"/>
            <a:ext cx="1609344" cy="457200"/>
          </a:xfrm>
          <a:prstGeom prst="rect">
            <a:avLst/>
          </a:prstGeom>
          <a:solidFill>
            <a:srgbClr val="1C202F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239572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2F7"/>
                </a:solidFill>
              </a:rPr>
              <a:t>가로 (셀)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331720"/>
            <a:ext cx="1426464" cy="457200"/>
          </a:xfrm>
          <a:prstGeom prst="rect">
            <a:avLst/>
          </a:prstGeom>
          <a:solidFill>
            <a:srgbClr val="1C202F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239572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2F7"/>
                </a:solidFill>
              </a:rPr>
              <a:t>세로 (셀)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16352"/>
            <a:ext cx="16093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880360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유형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816352"/>
            <a:ext cx="16093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2880360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816352"/>
            <a:ext cx="142646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2880360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300984"/>
            <a:ext cx="16093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3649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유형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300984"/>
            <a:ext cx="16093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0048" y="33649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300984"/>
            <a:ext cx="142646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336499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9AF7"/>
                </a:solidFill>
              </a:rPr>
              <a:t>벽돌 패턴 규칙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9B1D6"/>
                </a:solidFill>
              </a:rPr>
              <a:t>위 행 블록이 아래 행 경계를 하나만 내부에 걸쳐야 합격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800600"/>
            <a:ext cx="4846320" cy="530352"/>
          </a:xfrm>
          <a:prstGeom prst="rect">
            <a:avLst/>
          </a:prstGeom>
          <a:solidFill>
            <a:srgbClr val="1A281A"/>
          </a:solidFill>
          <a:ln w="9525">
            <a:solidFill>
              <a:srgbClr val="9EC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8920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ECE6A"/>
                </a:solidFill>
              </a:rPr>
              <a:t>경계 1개, 블록 내부 → 합격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440680"/>
            <a:ext cx="4846320" cy="530352"/>
          </a:xfrm>
          <a:prstGeom prst="rect">
            <a:avLst/>
          </a:prstGeom>
          <a:solidFill>
            <a:srgbClr val="281A1A"/>
          </a:solidFill>
          <a:ln w="9525">
            <a:solidFill>
              <a:srgbClr val="F77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5321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768E"/>
                </a:solidFill>
              </a:rPr>
              <a:t>경계 0개 · 2개+ · 끝과 겹침 → 탈락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CFFF"/>
                </a:solidFill>
              </a:rPr>
              <a:t>Beam Search 흐름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377440"/>
            <a:ext cx="4846320" cy="73152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48716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F5"/>
                </a:solidFill>
              </a:rPr>
              <a:t>① 맨 아래 행: 유형2 수 내림차순 상위 5개 선택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246120"/>
            <a:ext cx="4846320" cy="73152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3558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F5"/>
                </a:solidFill>
              </a:rPr>
              <a:t>② 위 행으로 이동하며 분할 후보 × 이전 후보 조합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114800"/>
            <a:ext cx="4846320" cy="73152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2245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F5"/>
                </a:solidFill>
              </a:rPr>
              <a:t>③ 벽돌 규칙 위반 시 +loss (아래 행일수록 큰 페널티)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983480"/>
            <a:ext cx="4846320" cy="73152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50932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F5"/>
                </a:solidFill>
              </a:rPr>
              <a:t>④ 누적 loss 기준 상위 5개 유지 → 최종 최소 선택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4190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F89"/>
                </a:solidFill>
              </a:rPr>
              <a:t>sequencer_node.py · _match_blocks()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3032" y="64190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65F89"/>
                </a:solidFill>
              </a:rPr>
              <a:t>4  / 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A2F7"/>
                </a:solidFill>
              </a:rPr>
              <a:t>&gt; step 04 ·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배치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5029200" cy="1508760"/>
          </a:xfrm>
          <a:prstGeom prst="rect">
            <a:avLst/>
          </a:prstGeom>
          <a:solidFill>
            <a:srgbClr val="24283B"/>
          </a:solidFill>
          <a:ln w="19050">
            <a:solidFill>
              <a:srgbClr val="7AA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5029200" cy="54864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AA2F7"/>
                </a:solidFill>
              </a:rPr>
              <a:t>아래 → 위 (Z축)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9B1D6"/>
                </a:solidFill>
              </a:rPr>
              <a:t>row H-1 (이미지 하단) 부터 row 0 (상단)으로 적층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11880"/>
            <a:ext cx="5029200" cy="1508760"/>
          </a:xfrm>
          <a:prstGeom prst="rect">
            <a:avLst/>
          </a:prstGeom>
          <a:solidFill>
            <a:srgbClr val="24283B"/>
          </a:solidFill>
          <a:ln w="19050">
            <a:solidFill>
              <a:srgbClr val="BB9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611880"/>
            <a:ext cx="5029200" cy="54864"/>
          </a:xfrm>
          <a:prstGeom prst="rect">
            <a:avLst/>
          </a:prstGeom>
          <a:solidFill>
            <a:srgbClr val="BB9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B9AF7"/>
                </a:solidFill>
              </a:rPr>
              <a:t>좌 → 우 고정 (Y축)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9B1D6"/>
                </a:solidFill>
              </a:rPr>
              <a:t>각 행 내 블록은 항상 col 오름차순으로 배치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920240"/>
            <a:ext cx="4663440" cy="3108960"/>
          </a:xfrm>
          <a:prstGeom prst="rect">
            <a:avLst/>
          </a:prstGeom>
          <a:solidFill>
            <a:srgbClr val="010409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920240"/>
            <a:ext cx="4663440" cy="34747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19751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F89"/>
                </a:solidFill>
              </a:rPr>
              <a:t>●  ●  ●    _build_tasks()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31720"/>
            <a:ext cx="4434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for layer in range(grid_height):
    row = grid_height - 1 - layer
    blocks = row_blocks.get(row, [])
    for col_start, width, color, btype \
        in blocks:   # 이미 좌→우 순서
        task = BlockTask()
        task.y_position = y_col0 - \
            (col_start + (width-1)/2) * pitch
        tasks.append(task)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1206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9B1D6"/>
                </a:solidFill>
              </a:rPr>
              <a:t>블록 리스트는 _match_blocks()에서 col 오름차순 반환 — 별도 정렬 불필요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190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F89"/>
                </a:solidFill>
              </a:rPr>
              <a:t>sequencer_node.py · _build_tasks()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3032" y="64190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65F89"/>
                </a:solidFill>
              </a:rPr>
              <a:t>5  / 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A2F7"/>
                </a:solidFill>
              </a:rPr>
              <a:t>&gt; step 05 ·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Y 좌표 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A2F7"/>
                </a:solidFill>
              </a:rPr>
              <a:t>파라미터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1792224" cy="457200"/>
          </a:xfrm>
          <a:prstGeom prst="rect">
            <a:avLst/>
          </a:prstGeom>
          <a:solidFill>
            <a:srgbClr val="1C202F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2F7"/>
                </a:solidFill>
              </a:rPr>
              <a:t>파라미터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331720"/>
            <a:ext cx="1655064" cy="457200"/>
          </a:xfrm>
          <a:prstGeom prst="rect">
            <a:avLst/>
          </a:prstGeom>
          <a:solidFill>
            <a:srgbClr val="1C202F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2395728"/>
            <a:ext cx="1527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2F7"/>
                </a:solidFill>
              </a:rPr>
              <a:t>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331720"/>
            <a:ext cx="1380744" cy="457200"/>
          </a:xfrm>
          <a:prstGeom prst="rect">
            <a:avLst/>
          </a:prstGeom>
          <a:solidFill>
            <a:srgbClr val="1C202F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395728"/>
            <a:ext cx="1252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2F7"/>
                </a:solidFill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16352"/>
            <a:ext cx="179222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88036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y_col0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816352"/>
            <a:ext cx="165506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2880360"/>
            <a:ext cx="1527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317.95 mm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816352"/>
            <a:ext cx="13807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880360"/>
            <a:ext cx="1252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col=0 중심 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300984"/>
            <a:ext cx="179222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36499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cell_pitch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300984"/>
            <a:ext cx="165506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2928" y="3364992"/>
            <a:ext cx="1527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15.9 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300984"/>
            <a:ext cx="13807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364992"/>
            <a:ext cx="1252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셀 1칸 간격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931920"/>
            <a:ext cx="5029200" cy="1554480"/>
          </a:xfrm>
          <a:prstGeom prst="rect">
            <a:avLst/>
          </a:prstGeom>
          <a:solidFill>
            <a:srgbClr val="141C35"/>
          </a:solidFill>
          <a:ln w="19050">
            <a:solidFill>
              <a:srgbClr val="7AA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041648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A9B1D6"/>
                </a:solidFill>
              </a:rPr>
              <a:t>center_col = col_start + (width − 1) / 2</a:t>
            </a:r>
          </a:p>
          <a:p>
            <a:r>
              <a:rPr sz="1700" b="1">
                <a:solidFill>
                  <a:srgbClr val="7AA2F7"/>
                </a:solidFill>
              </a:rPr>
              <a:t>Y  =  317.95 − center_col × 15.9</a:t>
            </a:r>
          </a:p>
          <a:p>
            <a:r>
              <a:rPr sz="1200" b="0">
                <a:solidFill>
                  <a:srgbClr val="565F89"/>
                </a:solidFill>
              </a:rPr>
              <a:t># col 증가 → Y 감소  (오른쪽 = 작은 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9AF7"/>
                </a:solidFill>
              </a:rPr>
              <a:t>예시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331720"/>
            <a:ext cx="2066544" cy="457200"/>
          </a:xfrm>
          <a:prstGeom prst="rect">
            <a:avLst/>
          </a:prstGeom>
          <a:solidFill>
            <a:srgbClr val="1C202F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39572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2F7"/>
                </a:solidFill>
              </a:rPr>
              <a:t>블록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331720"/>
            <a:ext cx="1243584" cy="457200"/>
          </a:xfrm>
          <a:prstGeom prst="rect">
            <a:avLst/>
          </a:prstGeom>
          <a:solidFill>
            <a:srgbClr val="1C202F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39572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2F7"/>
                </a:solidFill>
              </a:rPr>
              <a:t>center_col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2331720"/>
            <a:ext cx="1152144" cy="457200"/>
          </a:xfrm>
          <a:prstGeom prst="rect">
            <a:avLst/>
          </a:prstGeom>
          <a:solidFill>
            <a:srgbClr val="1C202F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23957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A2F7"/>
                </a:solidFill>
              </a:rPr>
              <a:t>Y (mm)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816352"/>
            <a:ext cx="20665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8803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2셀 col 0~1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2816352"/>
            <a:ext cx="124358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288036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0.5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2816352"/>
            <a:ext cx="11521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28803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CE6A"/>
                </a:solidFill>
              </a:rPr>
              <a:t>310.0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300984"/>
            <a:ext cx="20665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3649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3셀 col 0~2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3300984"/>
            <a:ext cx="124358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336499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1.0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3300984"/>
            <a:ext cx="11521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0" y="336499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CE6A"/>
                </a:solidFill>
              </a:rPr>
              <a:t>302.05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3785616"/>
            <a:ext cx="20665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384962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2셀 col 4~5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3785616"/>
            <a:ext cx="124358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3849624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4.5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66960" y="3785616"/>
            <a:ext cx="11521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384962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246.4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4270248"/>
            <a:ext cx="20665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433425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3셀 col 7~9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0" y="4270248"/>
            <a:ext cx="124358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433425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8.0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0" y="4270248"/>
            <a:ext cx="1152144" cy="457200"/>
          </a:xfrm>
          <a:prstGeom prst="rect">
            <a:avLst/>
          </a:prstGeom>
          <a:solidFill>
            <a:srgbClr val="24283B"/>
          </a:solidFill>
          <a:ln w="9525">
            <a:solidFill>
              <a:srgbClr val="2F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0" y="433425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AF5"/>
                </a:solidFill>
              </a:rPr>
              <a:t>190.75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502920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9B1D6"/>
                </a:solidFill>
              </a:rPr>
              <a:t>블록 타입 구분 없이 단일 공식으로 통일
(이전 방식의 start_y_type1 / type2 파라미터 제거)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64190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F89"/>
                </a:solidFill>
              </a:rPr>
              <a:t>sequencer_node.py · _build_tasks()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43032" y="64190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65F89"/>
                </a:solidFill>
              </a:rPr>
              <a:t>6  /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A2F7"/>
                </a:solidFill>
              </a:rPr>
              <a:t>&gt; roadmap · 미구현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추후 구현 항목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3291840" cy="4206240"/>
          </a:xfrm>
          <a:prstGeom prst="rect">
            <a:avLst/>
          </a:prstGeom>
          <a:solidFill>
            <a:srgbClr val="24283B"/>
          </a:solidFill>
          <a:ln w="19050">
            <a:solidFill>
              <a:srgbClr val="7AA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291840" cy="64008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AA2F7"/>
                </a:solidFill>
              </a:rPr>
              <a:t>/sequence/recover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9B1D6"/>
                </a:solidFill>
              </a:rPr>
              <a:t>실패 step 기준 상위 블록 제거 후
재배치 큐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206240"/>
            <a:ext cx="2926080" cy="411480"/>
          </a:xfrm>
          <a:prstGeom prst="rect">
            <a:avLst/>
          </a:prstGeom>
          <a:solidFill>
            <a:srgbClr val="2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251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5F89"/>
                </a:solidFill>
              </a:rPr>
              <a:t>Recovery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920240"/>
            <a:ext cx="3291840" cy="4206240"/>
          </a:xfrm>
          <a:prstGeom prst="rect">
            <a:avLst/>
          </a:prstGeom>
          <a:solidFill>
            <a:srgbClr val="24283B"/>
          </a:solidFill>
          <a:ln w="19050">
            <a:solidFill>
              <a:srgbClr val="BB9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920240"/>
            <a:ext cx="3291840" cy="64008"/>
          </a:xfrm>
          <a:prstGeom prst="rect">
            <a:avLst/>
          </a:prstGeom>
          <a:solidFill>
            <a:srgbClr val="BB9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B9AF7"/>
                </a:solidFill>
              </a:rPr>
              <a:t>/sequence/resume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88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9B1D6"/>
                </a:solidFill>
              </a:rPr>
              <a:t>복구 성공 후
남은 블록 큐 반환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206240"/>
            <a:ext cx="2926080" cy="411480"/>
          </a:xfrm>
          <a:prstGeom prst="rect">
            <a:avLst/>
          </a:prstGeom>
          <a:solidFill>
            <a:srgbClr val="2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251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5F89"/>
                </a:solidFill>
              </a:rPr>
              <a:t>Remaining 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3291840" cy="4206240"/>
          </a:xfrm>
          <a:prstGeom prst="rect">
            <a:avLst/>
          </a:prstGeom>
          <a:solidFill>
            <a:srgbClr val="24283B"/>
          </a:solidFill>
          <a:ln w="19050">
            <a:solidFill>
              <a:srgbClr val="7D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920240"/>
            <a:ext cx="3291840" cy="64008"/>
          </a:xfrm>
          <a:prstGeom prst="rect">
            <a:avLst/>
          </a:prstGeom>
          <a:solidFill>
            <a:srgbClr val="7D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DCFFF"/>
                </a:solidFill>
              </a:rPr>
              <a:t>step ↔ 위치 매핑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889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9B1D6"/>
                </a:solidFill>
              </a:rPr>
              <a:t>에러 복구를 위한
step 번호 ↔ row/col 역추적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206240"/>
            <a:ext cx="2926080" cy="411480"/>
          </a:xfrm>
          <a:prstGeom prst="rect">
            <a:avLst/>
          </a:prstGeom>
          <a:solidFill>
            <a:srgbClr val="2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251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65F89"/>
                </a:solidFill>
              </a:rPr>
              <a:t>Debug &amp; 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190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F89"/>
                </a:solidFill>
              </a:rPr>
              <a:t>rokey-proj-01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3032" y="64190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65F89"/>
                </a:solidFill>
              </a:rPr>
              <a:t>7  /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